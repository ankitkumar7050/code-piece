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a4e12778-b580-694c-f8f6-d4951d753828}">
          <p14:sldIdLst>
            <p14:sldId id="256"/>
          </p14:sldIdLst>
        </p14:section>
        <p14:section name="Problem" id="{e4f14af3-5d91-2db7-69d5-2aa3ccdd83f6}">
          <p14:sldIdLst>
            <p14:sldId id="257"/>
            <p14:sldId id="258"/>
          </p14:sldIdLst>
        </p14:section>
        <p14:section name="Solution" id="{0099b8f0-17fc-6346-2764-72b29396eb3b}">
          <p14:sldIdLst>
            <p14:sldId id="259"/>
            <p14:sldId id="260"/>
            <p14:sldId id="261"/>
          </p14:sldIdLst>
        </p14:section>
        <p14:section name="Intelligence" id="{08293aa6-a78e-92ef-937f-fb839b9ba416}">
          <p14:sldIdLst>
            <p14:sldId id="262"/>
            <p14:sldId id="263"/>
          </p14:sldIdLst>
        </p14:section>
        <p14:section name="Build" id="{3aaa1d59-04df-58b1-916a-e5f44eb4440a}">
          <p14:sldIdLst>
            <p14:sldId id="264"/>
            <p14:sldId id="265"/>
            <p14:sldId id="266"/>
            <p14:sldId id="267"/>
          </p14:sldIdLst>
        </p14:section>
        <p14:section name="Close" id="{7a7c28ec-aa2f-29f4-0132-f7e26fe60c61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1182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11827"/>
                </a:solidFill>
                <a:latin typeface="+mn-lt"/>
              </a:rPr>
              <a:t>Score = weighted mix (0 to 100)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97316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FBBF24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0EA5E9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16A34A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Hazard type</c:v>
                </c:pt>
                <c:pt idx="1">
                  <c:v>Exposure</c:v>
                </c:pt>
                <c:pt idx="2">
                  <c:v>Community signal</c:v>
                </c:pt>
                <c:pt idx="3">
                  <c:v>Conditions</c:v>
                </c:pt>
                <c:pt idx="4">
                  <c:v>Age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40</c:v>
                </c:pt>
                <c:pt idx="1">
                  <c:v>25</c:v>
                </c:pt>
                <c:pt idx="2">
                  <c:v>15</c:v>
                </c:pt>
                <c:pt idx="3">
                  <c:v>10</c:v>
                </c:pt>
                <c:pt idx="4">
                  <c:v>10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Intro: SafeStreet is a hyper-local hazard tracker. One line: every commuter's phone becomes a hazard sensor, and a hazard is only fixed when a photograph proves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everyday hazards. The issue is not awareness; it is that nobody bothers to report, and authorities have no real-time picture.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Side-by-side: every broken step in today's process has a direct fix in SafeStreet.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connected surfaces over one database: citizens report, the public sees, the municipality 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flow is camera first. A report within about 20 m of an open one of the same type just adds a vote and photo.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 map: pins by severity, safer-route overlay, proximity alerts. Fixed hazards fade out with a before/after photo.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Hazard type 40%, exposure near schools/hospitals/junctions 25%, community confirmations 15%, night/rain conditions 10%, age 10%. The formula is transparent so officials can tune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ticket only closes when the crew uploads an after-photo at the same location. A 'not fixed' vote from nearby citizens reopens it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Layered design. PostGIS makes 'hazards within 20 m' a one-line query, which powers duplicate merging and proximity alerts.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Must-haves give a complete end-to-end demo. Should-haves add the smart, low-effort reporting. Nice-to-haves are polish.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demo in the order shown. Impact targets are goals for a pilot ward, not measured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risk has a concrete mitigation already in the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three-word idea: report fast, fix first, prove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SafeStreet  |  Civic &amp; road hazard tracker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SafeStreet  |  Civic &amp; road hazard tracker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 1"/>
          <p:cNvSpPr/>
          <p:nvPr/>
        </p:nvSpPr>
        <p:spPr>
          <a:xfrm>
            <a:off x="4754880" y="457200"/>
            <a:ext cx="4206240" cy="42062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3" name="Circle 2"/>
          <p:cNvSpPr/>
          <p:nvPr/>
        </p:nvSpPr>
        <p:spPr>
          <a:xfrm>
            <a:off x="5349240" y="1051560"/>
            <a:ext cx="3017520" cy="3017520"/>
          </a:xfrm>
          <a:prstGeom prst="ellipse">
            <a:avLst/>
          </a:prstGeom>
          <a:solidFill>
            <a:schemeClr val="accent1">
              <a:alpha val="28000"/>
            </a:schemeClr>
          </a:solidFill>
          <a:ln/>
        </p:spPr>
      </p:sp>
      <p:sp>
        <p:nvSpPr>
          <p:cNvPr id="4" name="Circle 3"/>
          <p:cNvSpPr/>
          <p:nvPr/>
        </p:nvSpPr>
        <p:spPr>
          <a:xfrm>
            <a:off x="5943600" y="1645920"/>
            <a:ext cx="1828800" cy="1828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Pin icon" descr="Map p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103120"/>
            <a:ext cx="914400" cy="914400"/>
          </a:xfrm>
          <a:prstGeom prst="rect">
            <a:avLst/>
          </a:prstGeom>
        </p:spPr>
      </p:pic>
      <p:sp>
        <p:nvSpPr>
          <p:cNvPr id="6" name="Circle 4"/>
          <p:cNvSpPr/>
          <p:nvPr/>
        </p:nvSpPr>
        <p:spPr>
          <a:xfrm>
            <a:off x="5111496" y="859536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Icon 5" descr="MdWarn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6220" y="984260"/>
            <a:ext cx="317480" cy="317480"/>
          </a:xfrm>
          <a:prstGeom prst="rect">
            <a:avLst/>
          </a:prstGeom>
        </p:spPr>
      </p:pic>
      <p:sp>
        <p:nvSpPr>
          <p:cNvPr id="8" name="Circle 6"/>
          <p:cNvSpPr/>
          <p:nvPr/>
        </p:nvSpPr>
        <p:spPr>
          <a:xfrm>
            <a:off x="8037576" y="1088136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con 7" descr="MdElectricBo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2300" y="1212860"/>
            <a:ext cx="317480" cy="317480"/>
          </a:xfrm>
          <a:prstGeom prst="rect">
            <a:avLst/>
          </a:prstGeom>
        </p:spPr>
      </p:pic>
      <p:sp>
        <p:nvSpPr>
          <p:cNvPr id="10" name="Circle 8"/>
          <p:cNvSpPr/>
          <p:nvPr/>
        </p:nvSpPr>
        <p:spPr>
          <a:xfrm>
            <a:off x="7946136" y="3694176"/>
            <a:ext cx="566928" cy="56692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Icon 9" descr="M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0860" y="3818900"/>
            <a:ext cx="317480" cy="317480"/>
          </a:xfrm>
          <a:prstGeom prst="rect">
            <a:avLst/>
          </a:prstGeom>
        </p:spPr>
      </p:pic>
      <p:sp>
        <p:nvSpPr>
          <p:cNvPr id="12" name="Circle 10"/>
          <p:cNvSpPr/>
          <p:nvPr/>
        </p:nvSpPr>
        <p:spPr>
          <a:xfrm>
            <a:off x="4928616" y="3557016"/>
            <a:ext cx="566928" cy="56692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Icon 11" descr="MdWaterDro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3340" y="3681740"/>
            <a:ext cx="317480" cy="317480"/>
          </a:xfrm>
          <a:prstGeom prst="rect">
            <a:avLst/>
          </a:prstGeom>
        </p:spPr>
      </p:pic>
      <p:sp>
        <p:nvSpPr>
          <p:cNvPr id="14" name="Card 12"/>
          <p:cNvSpPr/>
          <p:nvPr/>
        </p:nvSpPr>
        <p:spPr>
          <a:xfrm>
            <a:off x="548640" y="731520"/>
            <a:ext cx="2468880" cy="347472"/>
          </a:xfrm>
          <a:prstGeom prst="roundRect">
            <a:avLst>
              <a:gd name="adj" fmla="val 36842"/>
            </a:avLst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7315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HACKATHON  |  PROBLEM #1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13258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SafeStreet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5146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Report a road hazard in seconds.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Fix what matters first.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5204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Street-level civic and road hazard tracker: photo-first reporting, a public safety map, a severity-ranked queue and photo-verified fixes.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526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Problem submitted by Ziyad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Hazards everyone sees, nobody logs</a:t>
            </a:r>
            <a:endParaRPr lang="en-US" sz="3000" dirty="0"/>
          </a:p>
        </p:txBody>
      </p:sp>
      <p:sp>
        <p:nvSpPr>
          <p:cNvPr id="3" name="Circle 18"/>
          <p:cNvSpPr/>
          <p:nvPr/>
        </p:nvSpPr>
        <p:spPr>
          <a:xfrm>
            <a:off x="8129016" y="356616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" name="Icon 19" descr="MdWarn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3740" y="481340"/>
            <a:ext cx="317480" cy="317480"/>
          </a:xfrm>
          <a:prstGeom prst="rect">
            <a:avLst/>
          </a:prstGeom>
        </p:spPr>
      </p:pic>
      <p:sp>
        <p:nvSpPr>
          <p:cNvPr id="5" name="Card 20"/>
          <p:cNvSpPr/>
          <p:nvPr/>
        </p:nvSpPr>
        <p:spPr>
          <a:xfrm>
            <a:off x="457200" y="1325880"/>
            <a:ext cx="1920240" cy="23317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6" name="Circle 21"/>
          <p:cNvSpPr/>
          <p:nvPr/>
        </p:nvSpPr>
        <p:spPr>
          <a:xfrm>
            <a:off x="1028700" y="162306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Icon 22" descr="MdTripOrig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693" y="1794053"/>
            <a:ext cx="435254" cy="435254"/>
          </a:xfrm>
          <a:prstGeom prst="rect">
            <a:avLst/>
          </a:prstGeom>
        </p:spPr>
      </p:pic>
      <p:sp>
        <p:nvSpPr>
          <p:cNvPr id="8" name="Text 23"/>
          <p:cNvSpPr txBox="1"/>
          <p:nvPr/>
        </p:nvSpPr>
        <p:spPr>
          <a:xfrm>
            <a:off x="594360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Open manholes</a:t>
            </a:r>
            <a:endParaRPr lang="en-US" sz="1500" dirty="0"/>
          </a:p>
        </p:txBody>
      </p:sp>
      <p:sp>
        <p:nvSpPr>
          <p:cNvPr id="9" name="Text 24"/>
          <p:cNvSpPr txBox="1"/>
          <p:nvPr/>
        </p:nvSpPr>
        <p:spPr>
          <a:xfrm>
            <a:off x="594360" y="29718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Invisible at night, deadly for two-wheelers</a:t>
            </a:r>
            <a:endParaRPr lang="en-US" sz="1200" dirty="0"/>
          </a:p>
        </p:txBody>
      </p:sp>
      <p:sp>
        <p:nvSpPr>
          <p:cNvPr id="10" name="Card 25"/>
          <p:cNvSpPr/>
          <p:nvPr/>
        </p:nvSpPr>
        <p:spPr>
          <a:xfrm>
            <a:off x="2560320" y="1325880"/>
            <a:ext cx="1920240" cy="23317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1" name="Circle 26"/>
          <p:cNvSpPr/>
          <p:nvPr/>
        </p:nvSpPr>
        <p:spPr>
          <a:xfrm>
            <a:off x="3131820" y="162306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con 27" descr="MdElectricBo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813" y="1794053"/>
            <a:ext cx="435254" cy="435254"/>
          </a:xfrm>
          <a:prstGeom prst="rect">
            <a:avLst/>
          </a:prstGeom>
        </p:spPr>
      </p:pic>
      <p:sp>
        <p:nvSpPr>
          <p:cNvPr id="13" name="Text 28"/>
          <p:cNvSpPr txBox="1"/>
          <p:nvPr/>
        </p:nvSpPr>
        <p:spPr>
          <a:xfrm>
            <a:off x="2697480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Dangling live wires</a:t>
            </a:r>
            <a:endParaRPr lang="en-US" sz="1500" dirty="0"/>
          </a:p>
        </p:txBody>
      </p:sp>
      <p:sp>
        <p:nvSpPr>
          <p:cNvPr id="14" name="Text 29"/>
          <p:cNvSpPr txBox="1"/>
          <p:nvPr/>
        </p:nvSpPr>
        <p:spPr>
          <a:xfrm>
            <a:off x="2697480" y="29718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Electrocution risk, worst in the rain</a:t>
            </a:r>
            <a:endParaRPr lang="en-US" sz="1200" dirty="0"/>
          </a:p>
        </p:txBody>
      </p:sp>
      <p:sp>
        <p:nvSpPr>
          <p:cNvPr id="15" name="Card 30"/>
          <p:cNvSpPr/>
          <p:nvPr/>
        </p:nvSpPr>
        <p:spPr>
          <a:xfrm>
            <a:off x="4663440" y="1325880"/>
            <a:ext cx="1920240" cy="23317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6" name="Circle 31"/>
          <p:cNvSpPr/>
          <p:nvPr/>
        </p:nvSpPr>
        <p:spPr>
          <a:xfrm>
            <a:off x="5234940" y="16230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 32" descr="MdDirectionsWal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5933" y="1794053"/>
            <a:ext cx="435254" cy="435254"/>
          </a:xfrm>
          <a:prstGeom prst="rect">
            <a:avLst/>
          </a:prstGeom>
        </p:spPr>
      </p:pic>
      <p:sp>
        <p:nvSpPr>
          <p:cNvPr id="18" name="Text 33"/>
          <p:cNvSpPr txBox="1"/>
          <p:nvPr/>
        </p:nvSpPr>
        <p:spPr>
          <a:xfrm>
            <a:off x="4800600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Broken footpaths</a:t>
            </a:r>
            <a:endParaRPr lang="en-US" sz="1500" dirty="0"/>
          </a:p>
        </p:txBody>
      </p:sp>
      <p:sp>
        <p:nvSpPr>
          <p:cNvPr id="19" name="Text 34"/>
          <p:cNvSpPr txBox="1"/>
          <p:nvPr/>
        </p:nvSpPr>
        <p:spPr>
          <a:xfrm>
            <a:off x="4800600" y="29718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Pushes pedestrians onto the road</a:t>
            </a:r>
            <a:endParaRPr lang="en-US" sz="1200" dirty="0"/>
          </a:p>
        </p:txBody>
      </p:sp>
      <p:sp>
        <p:nvSpPr>
          <p:cNvPr id="20" name="Card 35"/>
          <p:cNvSpPr/>
          <p:nvPr/>
        </p:nvSpPr>
        <p:spPr>
          <a:xfrm>
            <a:off x="6766560" y="1325880"/>
            <a:ext cx="1920240" cy="23317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1" name="Circle 36"/>
          <p:cNvSpPr/>
          <p:nvPr/>
        </p:nvSpPr>
        <p:spPr>
          <a:xfrm>
            <a:off x="7338060" y="1623060"/>
            <a:ext cx="777240" cy="7772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2" name="Icon 37" descr="MdWaterDro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9053" y="1794053"/>
            <a:ext cx="435254" cy="435254"/>
          </a:xfrm>
          <a:prstGeom prst="rect">
            <a:avLst/>
          </a:prstGeom>
        </p:spPr>
      </p:pic>
      <p:sp>
        <p:nvSpPr>
          <p:cNvPr id="23" name="Text 38"/>
          <p:cNvSpPr txBox="1"/>
          <p:nvPr/>
        </p:nvSpPr>
        <p:spPr>
          <a:xfrm>
            <a:off x="6903720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Waterlogging</a:t>
            </a:r>
            <a:endParaRPr lang="en-US" sz="1500" dirty="0"/>
          </a:p>
        </p:txBody>
      </p:sp>
      <p:sp>
        <p:nvSpPr>
          <p:cNvPr id="24" name="Text 39"/>
          <p:cNvSpPr txBox="1"/>
          <p:nvPr/>
        </p:nvSpPr>
        <p:spPr>
          <a:xfrm>
            <a:off x="6903720" y="29718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Hides potholes and open drains</a:t>
            </a:r>
            <a:endParaRPr lang="en-US" sz="1200" dirty="0"/>
          </a:p>
        </p:txBody>
      </p:sp>
      <p:sp>
        <p:nvSpPr>
          <p:cNvPr id="25" name="Card 40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7500"/>
            </a:avLst>
          </a:prstGeom>
          <a:solidFill>
            <a:schemeClr val="tx1"/>
          </a:solidFill>
          <a:ln/>
        </p:spPr>
      </p:sp>
      <p:sp>
        <p:nvSpPr>
          <p:cNvPr id="26" name="Text 41"/>
          <p:cNvSpPr txBox="1"/>
          <p:nvPr/>
        </p:nvSpPr>
        <p:spPr>
          <a:xfrm>
            <a:off x="731520" y="3886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Reporting is so complicated that people skip it. </a:t>
            </a:r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Risks stay until an accident happens.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Today vs SafeStreet</a:t>
            </a:r>
            <a:endParaRPr lang="en-US" sz="3000" dirty="0"/>
          </a:p>
        </p:txBody>
      </p:sp>
      <p:sp>
        <p:nvSpPr>
          <p:cNvPr id="3" name="Circle 42"/>
          <p:cNvSpPr/>
          <p:nvPr/>
        </p:nvSpPr>
        <p:spPr>
          <a:xfrm>
            <a:off x="8129016" y="35661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con 43" descr="MdTu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3740" y="481340"/>
            <a:ext cx="317480" cy="317480"/>
          </a:xfrm>
          <a:prstGeom prst="rect">
            <a:avLst/>
          </a:prstGeom>
        </p:spPr>
      </p:pic>
      <p:sp>
        <p:nvSpPr>
          <p:cNvPr id="5" name="Text 44"/>
          <p:cNvSpPr txBox="1"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TODAY</a:t>
            </a:r>
            <a:endParaRPr lang="en-US" sz="1300" dirty="0"/>
          </a:p>
        </p:txBody>
      </p:sp>
      <p:sp>
        <p:nvSpPr>
          <p:cNvPr id="6" name="Text 45"/>
          <p:cNvSpPr txBox="1"/>
          <p:nvPr/>
        </p:nvSpPr>
        <p:spPr>
          <a:xfrm>
            <a:off x="502920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WITH SAFESTREET</a:t>
            </a:r>
            <a:endParaRPr lang="en-US" sz="1300" dirty="0"/>
          </a:p>
        </p:txBody>
      </p:sp>
      <p:sp>
        <p:nvSpPr>
          <p:cNvPr id="7" name="Card 46"/>
          <p:cNvSpPr/>
          <p:nvPr/>
        </p:nvSpPr>
        <p:spPr>
          <a:xfrm>
            <a:off x="457200" y="1417320"/>
            <a:ext cx="3657600" cy="676656"/>
          </a:xfrm>
          <a:prstGeom prst="roundRect">
            <a:avLst>
              <a:gd name="adj" fmla="val 18919"/>
            </a:avLst>
          </a:prstGeom>
          <a:solidFill>
            <a:srgbClr val="FEE2E2"/>
          </a:solidFill>
          <a:ln/>
        </p:spPr>
      </p:sp>
      <p:sp>
        <p:nvSpPr>
          <p:cNvPr id="8" name="Card 47"/>
          <p:cNvSpPr/>
          <p:nvPr/>
        </p:nvSpPr>
        <p:spPr>
          <a:xfrm>
            <a:off x="5029200" y="1417320"/>
            <a:ext cx="3657600" cy="676656"/>
          </a:xfrm>
          <a:prstGeom prst="roundRect">
            <a:avLst>
              <a:gd name="adj" fmla="val 18919"/>
            </a:avLst>
          </a:prstGeom>
          <a:solidFill>
            <a:srgbClr val="DCFCE7"/>
          </a:solidFill>
          <a:ln/>
        </p:spPr>
      </p:sp>
      <p:sp>
        <p:nvSpPr>
          <p:cNvPr id="9" name="Circle 48"/>
          <p:cNvSpPr/>
          <p:nvPr/>
        </p:nvSpPr>
        <p:spPr>
          <a:xfrm>
            <a:off x="594360" y="1572768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con 49" descr="MdClo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" y="1653235"/>
            <a:ext cx="204826" cy="204826"/>
          </a:xfrm>
          <a:prstGeom prst="rect">
            <a:avLst/>
          </a:prstGeom>
        </p:spPr>
      </p:pic>
      <p:sp>
        <p:nvSpPr>
          <p:cNvPr id="11" name="Circle 50"/>
          <p:cNvSpPr/>
          <p:nvPr/>
        </p:nvSpPr>
        <p:spPr>
          <a:xfrm>
            <a:off x="5166360" y="1572768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2" name="Icon 51" descr="Md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6827" y="1653235"/>
            <a:ext cx="204826" cy="204826"/>
          </a:xfrm>
          <a:prstGeom prst="rect">
            <a:avLst/>
          </a:prstGeom>
        </p:spPr>
      </p:pic>
      <p:sp>
        <p:nvSpPr>
          <p:cNvPr id="13" name="Text 52"/>
          <p:cNvSpPr txBox="1"/>
          <p:nvPr/>
        </p:nvSpPr>
        <p:spPr>
          <a:xfrm>
            <a:off x="1097280" y="1417320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Long forms and department lookups</a:t>
            </a:r>
            <a:endParaRPr lang="en-US" sz="1400" dirty="0"/>
          </a:p>
        </p:txBody>
      </p:sp>
      <p:sp>
        <p:nvSpPr>
          <p:cNvPr id="14" name="Text 53"/>
          <p:cNvSpPr txBox="1"/>
          <p:nvPr/>
        </p:nvSpPr>
        <p:spPr>
          <a:xfrm>
            <a:off x="5669280" y="1417320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3-tap photo report with auto location</a:t>
            </a:r>
            <a:endParaRPr lang="en-US" sz="1400" dirty="0"/>
          </a:p>
        </p:txBody>
      </p:sp>
      <p:sp>
        <p:nvSpPr>
          <p:cNvPr id="15" name="Arrow 54"/>
          <p:cNvSpPr/>
          <p:nvPr/>
        </p:nvSpPr>
        <p:spPr>
          <a:xfrm>
            <a:off x="4251960" y="1618488"/>
            <a:ext cx="64008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6" name="Card 55"/>
          <p:cNvSpPr/>
          <p:nvPr/>
        </p:nvSpPr>
        <p:spPr>
          <a:xfrm>
            <a:off x="457200" y="2221992"/>
            <a:ext cx="3657600" cy="676656"/>
          </a:xfrm>
          <a:prstGeom prst="roundRect">
            <a:avLst>
              <a:gd name="adj" fmla="val 18919"/>
            </a:avLst>
          </a:prstGeom>
          <a:solidFill>
            <a:srgbClr val="FEE2E2"/>
          </a:solidFill>
          <a:ln/>
        </p:spPr>
      </p:sp>
      <p:sp>
        <p:nvSpPr>
          <p:cNvPr id="17" name="Card 56"/>
          <p:cNvSpPr/>
          <p:nvPr/>
        </p:nvSpPr>
        <p:spPr>
          <a:xfrm>
            <a:off x="5029200" y="2221992"/>
            <a:ext cx="3657600" cy="676656"/>
          </a:xfrm>
          <a:prstGeom prst="roundRect">
            <a:avLst>
              <a:gd name="adj" fmla="val 18919"/>
            </a:avLst>
          </a:prstGeom>
          <a:solidFill>
            <a:srgbClr val="DCFCE7"/>
          </a:solidFill>
          <a:ln/>
        </p:spPr>
      </p:sp>
      <p:sp>
        <p:nvSpPr>
          <p:cNvPr id="18" name="Circle 57"/>
          <p:cNvSpPr/>
          <p:nvPr/>
        </p:nvSpPr>
        <p:spPr>
          <a:xfrm>
            <a:off x="594360" y="237744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9" name="Icon 58" descr="MdClos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" y="2457907"/>
            <a:ext cx="204826" cy="204826"/>
          </a:xfrm>
          <a:prstGeom prst="rect">
            <a:avLst/>
          </a:prstGeom>
        </p:spPr>
      </p:pic>
      <p:sp>
        <p:nvSpPr>
          <p:cNvPr id="20" name="Circle 59"/>
          <p:cNvSpPr/>
          <p:nvPr/>
        </p:nvSpPr>
        <p:spPr>
          <a:xfrm>
            <a:off x="5166360" y="237744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Icon 60" descr="Md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6827" y="2457907"/>
            <a:ext cx="204826" cy="204826"/>
          </a:xfrm>
          <a:prstGeom prst="rect">
            <a:avLst/>
          </a:prstGeom>
        </p:spPr>
      </p:pic>
      <p:sp>
        <p:nvSpPr>
          <p:cNvPr id="22" name="Text 61"/>
          <p:cNvSpPr txBox="1"/>
          <p:nvPr/>
        </p:nvSpPr>
        <p:spPr>
          <a:xfrm>
            <a:off x="1097280" y="2221992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 unsorted pile of complaints</a:t>
            </a:r>
            <a:endParaRPr lang="en-US" sz="1400" dirty="0"/>
          </a:p>
        </p:txBody>
      </p:sp>
      <p:sp>
        <p:nvSpPr>
          <p:cNvPr id="23" name="Text 62"/>
          <p:cNvSpPr txBox="1"/>
          <p:nvPr/>
        </p:nvSpPr>
        <p:spPr>
          <a:xfrm>
            <a:off x="5669280" y="2221992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Severity-ranked queue per ward</a:t>
            </a:r>
            <a:endParaRPr lang="en-US" sz="1400" dirty="0"/>
          </a:p>
        </p:txBody>
      </p:sp>
      <p:sp>
        <p:nvSpPr>
          <p:cNvPr id="24" name="Arrow 63"/>
          <p:cNvSpPr/>
          <p:nvPr/>
        </p:nvSpPr>
        <p:spPr>
          <a:xfrm>
            <a:off x="4251960" y="2423160"/>
            <a:ext cx="64008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5" name="Card 64"/>
          <p:cNvSpPr/>
          <p:nvPr/>
        </p:nvSpPr>
        <p:spPr>
          <a:xfrm>
            <a:off x="457200" y="3026664"/>
            <a:ext cx="3657600" cy="676656"/>
          </a:xfrm>
          <a:prstGeom prst="roundRect">
            <a:avLst>
              <a:gd name="adj" fmla="val 18919"/>
            </a:avLst>
          </a:prstGeom>
          <a:solidFill>
            <a:srgbClr val="FEE2E2"/>
          </a:solidFill>
          <a:ln/>
        </p:spPr>
      </p:sp>
      <p:sp>
        <p:nvSpPr>
          <p:cNvPr id="26" name="Card 65"/>
          <p:cNvSpPr/>
          <p:nvPr/>
        </p:nvSpPr>
        <p:spPr>
          <a:xfrm>
            <a:off x="5029200" y="3026664"/>
            <a:ext cx="3657600" cy="676656"/>
          </a:xfrm>
          <a:prstGeom prst="roundRect">
            <a:avLst>
              <a:gd name="adj" fmla="val 18919"/>
            </a:avLst>
          </a:prstGeom>
          <a:solidFill>
            <a:srgbClr val="DCFCE7"/>
          </a:solidFill>
          <a:ln/>
        </p:spPr>
      </p:sp>
      <p:sp>
        <p:nvSpPr>
          <p:cNvPr id="27" name="Circle 66"/>
          <p:cNvSpPr/>
          <p:nvPr/>
        </p:nvSpPr>
        <p:spPr>
          <a:xfrm>
            <a:off x="594360" y="318211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8" name="Icon 67" descr="MdClos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827" y="3262579"/>
            <a:ext cx="204826" cy="204826"/>
          </a:xfrm>
          <a:prstGeom prst="rect">
            <a:avLst/>
          </a:prstGeom>
        </p:spPr>
      </p:pic>
      <p:sp>
        <p:nvSpPr>
          <p:cNvPr id="29" name="Circle 68"/>
          <p:cNvSpPr/>
          <p:nvPr/>
        </p:nvSpPr>
        <p:spPr>
          <a:xfrm>
            <a:off x="5166360" y="3182112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0" name="Icon 69" descr="Md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6827" y="3262579"/>
            <a:ext cx="204826" cy="204826"/>
          </a:xfrm>
          <a:prstGeom prst="rect">
            <a:avLst/>
          </a:prstGeom>
        </p:spPr>
      </p:pic>
      <p:sp>
        <p:nvSpPr>
          <p:cNvPr id="31" name="Text 70"/>
          <p:cNvSpPr txBox="1"/>
          <p:nvPr/>
        </p:nvSpPr>
        <p:spPr>
          <a:xfrm>
            <a:off x="1097280" y="3026664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Reports vanish, nobody sees them</a:t>
            </a:r>
            <a:endParaRPr lang="en-US" sz="1400" dirty="0"/>
          </a:p>
        </p:txBody>
      </p:sp>
      <p:sp>
        <p:nvSpPr>
          <p:cNvPr id="32" name="Text 71"/>
          <p:cNvSpPr txBox="1"/>
          <p:nvPr/>
        </p:nvSpPr>
        <p:spPr>
          <a:xfrm>
            <a:off x="5669280" y="3026664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Public safety map with live status</a:t>
            </a:r>
            <a:endParaRPr lang="en-US" sz="1400" dirty="0"/>
          </a:p>
        </p:txBody>
      </p:sp>
      <p:sp>
        <p:nvSpPr>
          <p:cNvPr id="33" name="Arrow 72"/>
          <p:cNvSpPr/>
          <p:nvPr/>
        </p:nvSpPr>
        <p:spPr>
          <a:xfrm>
            <a:off x="4251960" y="3227832"/>
            <a:ext cx="64008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34" name="Card 73"/>
          <p:cNvSpPr/>
          <p:nvPr/>
        </p:nvSpPr>
        <p:spPr>
          <a:xfrm>
            <a:off x="457200" y="3831336"/>
            <a:ext cx="3657600" cy="676656"/>
          </a:xfrm>
          <a:prstGeom prst="roundRect">
            <a:avLst>
              <a:gd name="adj" fmla="val 18919"/>
            </a:avLst>
          </a:prstGeom>
          <a:solidFill>
            <a:srgbClr val="FEE2E2"/>
          </a:solidFill>
          <a:ln/>
        </p:spPr>
      </p:sp>
      <p:sp>
        <p:nvSpPr>
          <p:cNvPr id="35" name="Card 74"/>
          <p:cNvSpPr/>
          <p:nvPr/>
        </p:nvSpPr>
        <p:spPr>
          <a:xfrm>
            <a:off x="5029200" y="3831336"/>
            <a:ext cx="3657600" cy="676656"/>
          </a:xfrm>
          <a:prstGeom prst="roundRect">
            <a:avLst>
              <a:gd name="adj" fmla="val 18919"/>
            </a:avLst>
          </a:prstGeom>
          <a:solidFill>
            <a:srgbClr val="DCFCE7"/>
          </a:solidFill>
          <a:ln/>
        </p:spPr>
      </p:sp>
      <p:sp>
        <p:nvSpPr>
          <p:cNvPr id="36" name="Circle 75"/>
          <p:cNvSpPr/>
          <p:nvPr/>
        </p:nvSpPr>
        <p:spPr>
          <a:xfrm>
            <a:off x="594360" y="39867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7" name="Icon 76" descr="MdClos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827" y="4067251"/>
            <a:ext cx="204826" cy="204826"/>
          </a:xfrm>
          <a:prstGeom prst="rect">
            <a:avLst/>
          </a:prstGeom>
        </p:spPr>
      </p:pic>
      <p:sp>
        <p:nvSpPr>
          <p:cNvPr id="38" name="Circle 77"/>
          <p:cNvSpPr/>
          <p:nvPr/>
        </p:nvSpPr>
        <p:spPr>
          <a:xfrm>
            <a:off x="5166360" y="3986784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9" name="Icon 78" descr="MdCheck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46827" y="4067251"/>
            <a:ext cx="204826" cy="204826"/>
          </a:xfrm>
          <a:prstGeom prst="rect">
            <a:avLst/>
          </a:prstGeom>
        </p:spPr>
      </p:pic>
      <p:sp>
        <p:nvSpPr>
          <p:cNvPr id="40" name="Text 79"/>
          <p:cNvSpPr txBox="1"/>
          <p:nvPr/>
        </p:nvSpPr>
        <p:spPr>
          <a:xfrm>
            <a:off x="1097280" y="3831336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Tickets closed on paper</a:t>
            </a:r>
            <a:endParaRPr lang="en-US" sz="1400" dirty="0"/>
          </a:p>
        </p:txBody>
      </p:sp>
      <p:sp>
        <p:nvSpPr>
          <p:cNvPr id="41" name="Text 80"/>
          <p:cNvSpPr txBox="1"/>
          <p:nvPr/>
        </p:nvSpPr>
        <p:spPr>
          <a:xfrm>
            <a:off x="5669280" y="3831336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Fixes verified by a new photograph</a:t>
            </a:r>
            <a:endParaRPr lang="en-US" sz="1400" dirty="0"/>
          </a:p>
        </p:txBody>
      </p:sp>
      <p:sp>
        <p:nvSpPr>
          <p:cNvPr id="42" name="Arrow 81"/>
          <p:cNvSpPr/>
          <p:nvPr/>
        </p:nvSpPr>
        <p:spPr>
          <a:xfrm>
            <a:off x="4251960" y="4032504"/>
            <a:ext cx="64008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One platform, three surfaces</a:t>
            </a:r>
            <a:endParaRPr lang="en-US" sz="3000" dirty="0"/>
          </a:p>
        </p:txBody>
      </p:sp>
      <p:sp>
        <p:nvSpPr>
          <p:cNvPr id="3" name="Circle 82"/>
          <p:cNvSpPr/>
          <p:nvPr/>
        </p:nvSpPr>
        <p:spPr>
          <a:xfrm>
            <a:off x="8129016" y="35661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con 83" descr="Md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3740" y="481340"/>
            <a:ext cx="317480" cy="317480"/>
          </a:xfrm>
          <a:prstGeom prst="rect">
            <a:avLst/>
          </a:prstGeom>
        </p:spPr>
      </p:pic>
      <p:sp>
        <p:nvSpPr>
          <p:cNvPr id="5" name="Card 84"/>
          <p:cNvSpPr/>
          <p:nvPr/>
        </p:nvSpPr>
        <p:spPr>
          <a:xfrm>
            <a:off x="457200" y="1280160"/>
            <a:ext cx="2560320" cy="27432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6" name="Circle 85"/>
          <p:cNvSpPr/>
          <p:nvPr/>
        </p:nvSpPr>
        <p:spPr>
          <a:xfrm>
            <a:off x="685800" y="14630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 86" descr="MdPhoneAndro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34" y="1623974"/>
            <a:ext cx="409651" cy="409651"/>
          </a:xfrm>
          <a:prstGeom prst="rect">
            <a:avLst/>
          </a:prstGeom>
        </p:spPr>
      </p:pic>
      <p:sp>
        <p:nvSpPr>
          <p:cNvPr id="8" name="Text 87"/>
          <p:cNvSpPr txBox="1"/>
          <p:nvPr/>
        </p:nvSpPr>
        <p:spPr>
          <a:xfrm>
            <a:off x="1554480" y="15544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Citizen app</a:t>
            </a:r>
            <a:endParaRPr lang="en-US" sz="1600" dirty="0"/>
          </a:p>
        </p:txBody>
      </p:sp>
      <p:sp>
        <p:nvSpPr>
          <p:cNvPr id="9" name="Text 88"/>
          <p:cNvSpPr txBox="1"/>
          <p:nvPr/>
        </p:nvSpPr>
        <p:spPr>
          <a:xfrm>
            <a:off x="685800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Photo, pin or voice note</a:t>
            </a:r>
            <a:endParaRPr lang="en-US" sz="1300" dirty="0"/>
          </a:p>
        </p:txBody>
      </p:sp>
      <p:sp>
        <p:nvSpPr>
          <p:cNvPr id="10" name="Text 89"/>
          <p:cNvSpPr txBox="1"/>
          <p:nvPr/>
        </p:nvSpPr>
        <p:spPr>
          <a:xfrm>
            <a:off x="685800" y="26974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Report in seconds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long forms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Works offline</a:t>
            </a:r>
            <a:endParaRPr lang="en-US" sz="1400" dirty="0"/>
          </a:p>
        </p:txBody>
      </p:sp>
      <p:sp>
        <p:nvSpPr>
          <p:cNvPr id="11" name="Card 90"/>
          <p:cNvSpPr/>
          <p:nvPr/>
        </p:nvSpPr>
        <p:spPr>
          <a:xfrm>
            <a:off x="3291840" y="1280160"/>
            <a:ext cx="2560320" cy="27432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2" name="Circle 91"/>
          <p:cNvSpPr/>
          <p:nvPr/>
        </p:nvSpPr>
        <p:spPr>
          <a:xfrm>
            <a:off x="3520440" y="146304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Icon 92" descr="MdMa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1374" y="1623974"/>
            <a:ext cx="409651" cy="409651"/>
          </a:xfrm>
          <a:prstGeom prst="rect">
            <a:avLst/>
          </a:prstGeom>
        </p:spPr>
      </p:pic>
      <p:sp>
        <p:nvSpPr>
          <p:cNvPr id="14" name="Text 93"/>
          <p:cNvSpPr txBox="1"/>
          <p:nvPr/>
        </p:nvSpPr>
        <p:spPr>
          <a:xfrm>
            <a:off x="4389120" y="15544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Public safety map</a:t>
            </a:r>
            <a:endParaRPr lang="en-US" sz="1600" dirty="0"/>
          </a:p>
        </p:txBody>
      </p:sp>
      <p:sp>
        <p:nvSpPr>
          <p:cNvPr id="15" name="Text 94"/>
          <p:cNvSpPr txBox="1"/>
          <p:nvPr/>
        </p:nvSpPr>
        <p:spPr>
          <a:xfrm>
            <a:off x="3520440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Navigate around danger</a:t>
            </a:r>
            <a:endParaRPr lang="en-US" sz="1300" dirty="0"/>
          </a:p>
        </p:txBody>
      </p:sp>
      <p:sp>
        <p:nvSpPr>
          <p:cNvPr id="16" name="Text 95"/>
          <p:cNvSpPr txBox="1"/>
          <p:nvPr/>
        </p:nvSpPr>
        <p:spPr>
          <a:xfrm>
            <a:off x="3520440" y="26974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Severity-coloured pins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Safer routes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Proximity alerts</a:t>
            </a:r>
            <a:endParaRPr lang="en-US" sz="1400" dirty="0"/>
          </a:p>
        </p:txBody>
      </p:sp>
      <p:sp>
        <p:nvSpPr>
          <p:cNvPr id="17" name="Card 96"/>
          <p:cNvSpPr/>
          <p:nvPr/>
        </p:nvSpPr>
        <p:spPr>
          <a:xfrm>
            <a:off x="6126480" y="1280160"/>
            <a:ext cx="2560320" cy="27432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8" name="Circle 97"/>
          <p:cNvSpPr/>
          <p:nvPr/>
        </p:nvSpPr>
        <p:spPr>
          <a:xfrm>
            <a:off x="6355080" y="146304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9" name="Icon 98" descr="MdEngineer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6014" y="1623974"/>
            <a:ext cx="409651" cy="409651"/>
          </a:xfrm>
          <a:prstGeom prst="rect">
            <a:avLst/>
          </a:prstGeom>
        </p:spPr>
      </p:pic>
      <p:sp>
        <p:nvSpPr>
          <p:cNvPr id="20" name="Text 99"/>
          <p:cNvSpPr txBox="1"/>
          <p:nvPr/>
        </p:nvSpPr>
        <p:spPr>
          <a:xfrm>
            <a:off x="7223760" y="15544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Municipal dashboard</a:t>
            </a:r>
            <a:endParaRPr lang="en-US" sz="1600" dirty="0"/>
          </a:p>
        </p:txBody>
      </p:sp>
      <p:sp>
        <p:nvSpPr>
          <p:cNvPr id="21" name="Text 100"/>
          <p:cNvSpPr txBox="1"/>
          <p:nvPr/>
        </p:nvSpPr>
        <p:spPr>
          <a:xfrm>
            <a:off x="6355080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Know what to fix first</a:t>
            </a:r>
            <a:endParaRPr lang="en-US" sz="1300" dirty="0"/>
          </a:p>
        </p:txBody>
      </p:sp>
      <p:sp>
        <p:nvSpPr>
          <p:cNvPr id="22" name="Text 101"/>
          <p:cNvSpPr txBox="1"/>
          <p:nvPr/>
        </p:nvSpPr>
        <p:spPr>
          <a:xfrm>
            <a:off x="6355080" y="26974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Ranked queue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Assign crews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Close with a photo</a:t>
            </a:r>
            <a:endParaRPr lang="en-US" sz="1400" dirty="0"/>
          </a:p>
        </p:txBody>
      </p:sp>
      <p:sp>
        <p:nvSpPr>
          <p:cNvPr id="23" name="Card 102"/>
          <p:cNvSpPr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28000"/>
            </a:avLst>
          </a:prstGeom>
          <a:solidFill>
            <a:schemeClr val="tx1"/>
          </a:solidFill>
          <a:ln/>
        </p:spPr>
      </p:sp>
      <p:sp>
        <p:nvSpPr>
          <p:cNvPr id="24" name="Text 103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One shared geospatial hazard database keeps all three in sync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Report a hazard in 10 seconds</a:t>
            </a:r>
            <a:endParaRPr lang="en-US" sz="3000" dirty="0"/>
          </a:p>
        </p:txBody>
      </p:sp>
      <p:sp>
        <p:nvSpPr>
          <p:cNvPr id="3" name="Circle 104"/>
          <p:cNvSpPr/>
          <p:nvPr/>
        </p:nvSpPr>
        <p:spPr>
          <a:xfrm>
            <a:off x="8129016" y="35661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con 105" descr="MdTim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3740" y="481340"/>
            <a:ext cx="317480" cy="317480"/>
          </a:xfrm>
          <a:prstGeom prst="rect">
            <a:avLst/>
          </a:prstGeom>
        </p:spPr>
      </p:pic>
      <p:sp>
        <p:nvSpPr>
          <p:cNvPr id="5" name="Card 106"/>
          <p:cNvSpPr/>
          <p:nvPr/>
        </p:nvSpPr>
        <p:spPr>
          <a:xfrm>
            <a:off x="457200" y="1280160"/>
            <a:ext cx="2377440" cy="224028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6" name="Circle 107"/>
          <p:cNvSpPr/>
          <p:nvPr/>
        </p:nvSpPr>
        <p:spPr>
          <a:xfrm>
            <a:off x="1234440" y="14630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 108" descr="MdPhotoCame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491" y="1644091"/>
            <a:ext cx="460858" cy="460858"/>
          </a:xfrm>
          <a:prstGeom prst="rect">
            <a:avLst/>
          </a:prstGeom>
        </p:spPr>
      </p:pic>
      <p:sp>
        <p:nvSpPr>
          <p:cNvPr id="8" name="Text 109"/>
          <p:cNvSpPr txBox="1"/>
          <p:nvPr/>
        </p:nvSpPr>
        <p:spPr>
          <a:xfrm>
            <a:off x="640080" y="2423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  Snap</a:t>
            </a:r>
            <a:endParaRPr lang="en-US" sz="1800" dirty="0"/>
          </a:p>
        </p:txBody>
      </p:sp>
      <p:sp>
        <p:nvSpPr>
          <p:cNvPr id="9" name="Text 110"/>
          <p:cNvSpPr txBox="1"/>
          <p:nvPr/>
        </p:nvSpPr>
        <p:spPr>
          <a:xfrm>
            <a:off x="640080" y="27889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</a:rPr>
              <a:t>Camera opens straight away. No login needed to report.</a:t>
            </a:r>
            <a:endParaRPr lang="en-US" sz="1200" dirty="0"/>
          </a:p>
        </p:txBody>
      </p:sp>
      <p:sp>
        <p:nvSpPr>
          <p:cNvPr id="10" name="Arrow 111"/>
          <p:cNvSpPr/>
          <p:nvPr/>
        </p:nvSpPr>
        <p:spPr>
          <a:xfrm>
            <a:off x="2926080" y="2240280"/>
            <a:ext cx="365760" cy="32004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1" name="Card 112"/>
          <p:cNvSpPr/>
          <p:nvPr/>
        </p:nvSpPr>
        <p:spPr>
          <a:xfrm>
            <a:off x="3383280" y="1280160"/>
            <a:ext cx="2377440" cy="224028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12" name="Circle 113"/>
          <p:cNvSpPr/>
          <p:nvPr/>
        </p:nvSpPr>
        <p:spPr>
          <a:xfrm>
            <a:off x="4160520" y="14630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 114" descr="MdMyLoc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1571" y="1644091"/>
            <a:ext cx="460858" cy="460858"/>
          </a:xfrm>
          <a:prstGeom prst="rect">
            <a:avLst/>
          </a:prstGeom>
        </p:spPr>
      </p:pic>
      <p:sp>
        <p:nvSpPr>
          <p:cNvPr id="14" name="Text 115"/>
          <p:cNvSpPr txBox="1"/>
          <p:nvPr/>
        </p:nvSpPr>
        <p:spPr>
          <a:xfrm>
            <a:off x="3566160" y="2423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  Pin</a:t>
            </a:r>
            <a:endParaRPr lang="en-US" sz="1800" dirty="0"/>
          </a:p>
        </p:txBody>
      </p:sp>
      <p:sp>
        <p:nvSpPr>
          <p:cNvPr id="15" name="Text 116"/>
          <p:cNvSpPr txBox="1"/>
          <p:nvPr/>
        </p:nvSpPr>
        <p:spPr>
          <a:xfrm>
            <a:off x="3566160" y="27889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</a:rPr>
              <a:t>GPS fills the location. Drag to adjust, or record a voice note.</a:t>
            </a:r>
            <a:endParaRPr lang="en-US" sz="1200" dirty="0"/>
          </a:p>
        </p:txBody>
      </p:sp>
      <p:sp>
        <p:nvSpPr>
          <p:cNvPr id="16" name="Arrow 117"/>
          <p:cNvSpPr/>
          <p:nvPr/>
        </p:nvSpPr>
        <p:spPr>
          <a:xfrm>
            <a:off x="5852160" y="2240280"/>
            <a:ext cx="365760" cy="32004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7" name="Card 118"/>
          <p:cNvSpPr/>
          <p:nvPr/>
        </p:nvSpPr>
        <p:spPr>
          <a:xfrm>
            <a:off x="6309360" y="1280160"/>
            <a:ext cx="2377440" cy="224028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18" name="Circle 119"/>
          <p:cNvSpPr/>
          <p:nvPr/>
        </p:nvSpPr>
        <p:spPr>
          <a:xfrm>
            <a:off x="7086600" y="14630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con 120" descr="MdAutoAwesom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7651" y="1644091"/>
            <a:ext cx="460858" cy="460858"/>
          </a:xfrm>
          <a:prstGeom prst="rect">
            <a:avLst/>
          </a:prstGeom>
        </p:spPr>
      </p:pic>
      <p:sp>
        <p:nvSpPr>
          <p:cNvPr id="20" name="Text 121"/>
          <p:cNvSpPr txBox="1"/>
          <p:nvPr/>
        </p:nvSpPr>
        <p:spPr>
          <a:xfrm>
            <a:off x="6492240" y="2423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  Send</a:t>
            </a:r>
            <a:endParaRPr lang="en-US" sz="1800" dirty="0"/>
          </a:p>
        </p:txBody>
      </p:sp>
      <p:sp>
        <p:nvSpPr>
          <p:cNvPr id="21" name="Text 122"/>
          <p:cNvSpPr txBox="1"/>
          <p:nvPr/>
        </p:nvSpPr>
        <p:spPr>
          <a:xfrm>
            <a:off x="6492240" y="27889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</a:rPr>
              <a:t>AI suggests type and severity. One tap to confirm.</a:t>
            </a:r>
            <a:endParaRPr lang="en-US" sz="1200" dirty="0"/>
          </a:p>
        </p:txBody>
      </p:sp>
      <p:sp>
        <p:nvSpPr>
          <p:cNvPr id="22" name="Card 123"/>
          <p:cNvSpPr/>
          <p:nvPr/>
        </p:nvSpPr>
        <p:spPr>
          <a:xfrm>
            <a:off x="457200" y="3794760"/>
            <a:ext cx="2651760" cy="685800"/>
          </a:xfrm>
          <a:prstGeom prst="roundRect">
            <a:avLst>
              <a:gd name="adj" fmla="val 18667"/>
            </a:avLst>
          </a:prstGeom>
          <a:solidFill>
            <a:schemeClr val="tx2"/>
          </a:solidFill>
          <a:ln/>
        </p:spPr>
      </p:sp>
      <p:sp>
        <p:nvSpPr>
          <p:cNvPr id="23" name="Circle 124"/>
          <p:cNvSpPr/>
          <p:nvPr/>
        </p:nvSpPr>
        <p:spPr>
          <a:xfrm>
            <a:off x="617220" y="3927348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Icon 125" descr="MdMic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746" y="4017874"/>
            <a:ext cx="230429" cy="230429"/>
          </a:xfrm>
          <a:prstGeom prst="rect">
            <a:avLst/>
          </a:prstGeom>
        </p:spPr>
      </p:pic>
      <p:sp>
        <p:nvSpPr>
          <p:cNvPr id="25" name="Text 126"/>
          <p:cNvSpPr txBox="1"/>
          <p:nvPr/>
        </p:nvSpPr>
        <p:spPr>
          <a:xfrm>
            <a:off x="1143000" y="3794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Voice note in local language</a:t>
            </a:r>
            <a:endParaRPr lang="en-US" sz="1300" dirty="0"/>
          </a:p>
        </p:txBody>
      </p:sp>
      <p:sp>
        <p:nvSpPr>
          <p:cNvPr id="26" name="Card 127"/>
          <p:cNvSpPr/>
          <p:nvPr/>
        </p:nvSpPr>
        <p:spPr>
          <a:xfrm>
            <a:off x="3383280" y="3794760"/>
            <a:ext cx="2651760" cy="685800"/>
          </a:xfrm>
          <a:prstGeom prst="roundRect">
            <a:avLst>
              <a:gd name="adj" fmla="val 18667"/>
            </a:avLst>
          </a:prstGeom>
          <a:solidFill>
            <a:schemeClr val="tx2"/>
          </a:solidFill>
          <a:ln/>
        </p:spPr>
      </p:sp>
      <p:sp>
        <p:nvSpPr>
          <p:cNvPr id="27" name="Circle 128"/>
          <p:cNvSpPr/>
          <p:nvPr/>
        </p:nvSpPr>
        <p:spPr>
          <a:xfrm>
            <a:off x="3543300" y="3927348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8" name="Icon 129" descr="MdWifiOff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3826" y="4017874"/>
            <a:ext cx="230429" cy="230429"/>
          </a:xfrm>
          <a:prstGeom prst="rect">
            <a:avLst/>
          </a:prstGeom>
        </p:spPr>
      </p:pic>
      <p:sp>
        <p:nvSpPr>
          <p:cNvPr id="29" name="Text 130"/>
          <p:cNvSpPr txBox="1"/>
          <p:nvPr/>
        </p:nvSpPr>
        <p:spPr>
          <a:xfrm>
            <a:off x="4069080" y="3794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Offline queue, auto-upload</a:t>
            </a:r>
            <a:endParaRPr lang="en-US" sz="1300" dirty="0"/>
          </a:p>
        </p:txBody>
      </p:sp>
      <p:sp>
        <p:nvSpPr>
          <p:cNvPr id="30" name="Card 131"/>
          <p:cNvSpPr/>
          <p:nvPr/>
        </p:nvSpPr>
        <p:spPr>
          <a:xfrm>
            <a:off x="6309360" y="3794760"/>
            <a:ext cx="2651760" cy="685800"/>
          </a:xfrm>
          <a:prstGeom prst="roundRect">
            <a:avLst>
              <a:gd name="adj" fmla="val 18667"/>
            </a:avLst>
          </a:prstGeom>
          <a:solidFill>
            <a:schemeClr val="tx2"/>
          </a:solidFill>
          <a:ln/>
        </p:spPr>
      </p:sp>
      <p:sp>
        <p:nvSpPr>
          <p:cNvPr id="31" name="Circle 132"/>
          <p:cNvSpPr/>
          <p:nvPr/>
        </p:nvSpPr>
        <p:spPr>
          <a:xfrm>
            <a:off x="6469380" y="3927348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2" name="Icon 133" descr="MdContentCopy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9906" y="4017874"/>
            <a:ext cx="230429" cy="230429"/>
          </a:xfrm>
          <a:prstGeom prst="rect">
            <a:avLst/>
          </a:prstGeom>
        </p:spPr>
      </p:pic>
      <p:sp>
        <p:nvSpPr>
          <p:cNvPr id="33" name="Text 134"/>
          <p:cNvSpPr txBox="1"/>
          <p:nvPr/>
        </p:nvSpPr>
        <p:spPr>
          <a:xfrm>
            <a:off x="6995160" y="3794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Duplicates merge into one hazard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safety map you can navigate by</a:t>
            </a:r>
            <a:endParaRPr lang="en-US" sz="3000" dirty="0"/>
          </a:p>
        </p:txBody>
      </p:sp>
      <p:sp>
        <p:nvSpPr>
          <p:cNvPr id="3" name="Circle 135"/>
          <p:cNvSpPr/>
          <p:nvPr/>
        </p:nvSpPr>
        <p:spPr>
          <a:xfrm>
            <a:off x="8129016" y="356616"/>
            <a:ext cx="566928" cy="56692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4" name="Icon 136" descr="MdM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3740" y="481340"/>
            <a:ext cx="317480" cy="317480"/>
          </a:xfrm>
          <a:prstGeom prst="rect">
            <a:avLst/>
          </a:prstGeom>
        </p:spPr>
      </p:pic>
      <p:sp>
        <p:nvSpPr>
          <p:cNvPr id="5" name="Shape 137"/>
          <p:cNvSpPr/>
          <p:nvPr/>
        </p:nvSpPr>
        <p:spPr>
          <a:xfrm>
            <a:off x="457200" y="1280160"/>
            <a:ext cx="4572000" cy="28803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Road 138"/>
          <p:cNvSpPr/>
          <p:nvPr/>
        </p:nvSpPr>
        <p:spPr>
          <a:xfrm>
            <a:off x="457200" y="2148840"/>
            <a:ext cx="4572000" cy="0"/>
          </a:xfrm>
          <a:prstGeom prst="line">
            <a:avLst/>
          </a:prstGeom>
          <a:noFill/>
          <a:ln w="114300">
            <a:solidFill>
              <a:srgbClr val="FFFFFF"/>
            </a:solidFill>
            <a:prstDash val="solid"/>
          </a:ln>
        </p:spPr>
      </p:sp>
      <p:sp>
        <p:nvSpPr>
          <p:cNvPr id="7" name="Road 139"/>
          <p:cNvSpPr/>
          <p:nvPr/>
        </p:nvSpPr>
        <p:spPr>
          <a:xfrm>
            <a:off x="457200" y="3246120"/>
            <a:ext cx="4572000" cy="0"/>
          </a:xfrm>
          <a:prstGeom prst="line">
            <a:avLst/>
          </a:prstGeom>
          <a:noFill/>
          <a:ln w="114300">
            <a:solidFill>
              <a:srgbClr val="FFFFFF"/>
            </a:solidFill>
            <a:prstDash val="solid"/>
          </a:ln>
        </p:spPr>
      </p:sp>
      <p:sp>
        <p:nvSpPr>
          <p:cNvPr id="8" name="Road 140"/>
          <p:cNvSpPr/>
          <p:nvPr/>
        </p:nvSpPr>
        <p:spPr>
          <a:xfrm>
            <a:off x="2011680" y="1280160"/>
            <a:ext cx="0" cy="2880360"/>
          </a:xfrm>
          <a:prstGeom prst="line">
            <a:avLst/>
          </a:prstGeom>
          <a:noFill/>
          <a:ln w="114300">
            <a:solidFill>
              <a:srgbClr val="FFFFFF"/>
            </a:solidFill>
            <a:prstDash val="solid"/>
          </a:ln>
        </p:spPr>
      </p:sp>
      <p:sp>
        <p:nvSpPr>
          <p:cNvPr id="9" name="Road 141"/>
          <p:cNvSpPr/>
          <p:nvPr/>
        </p:nvSpPr>
        <p:spPr>
          <a:xfrm>
            <a:off x="3657600" y="1280160"/>
            <a:ext cx="0" cy="2880360"/>
          </a:xfrm>
          <a:prstGeom prst="line">
            <a:avLst/>
          </a:prstGeom>
          <a:noFill/>
          <a:ln w="114300">
            <a:solidFill>
              <a:srgbClr val="FFFFFF"/>
            </a:solidFill>
            <a:prstDash val="solid"/>
          </a:ln>
        </p:spPr>
      </p:sp>
      <p:sp>
        <p:nvSpPr>
          <p:cNvPr id="10" name="Block 142"/>
          <p:cNvSpPr/>
          <p:nvPr/>
        </p:nvSpPr>
        <p:spPr>
          <a:xfrm>
            <a:off x="731520" y="1508760"/>
            <a:ext cx="1005840" cy="4572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Block 143"/>
          <p:cNvSpPr/>
          <p:nvPr/>
        </p:nvSpPr>
        <p:spPr>
          <a:xfrm>
            <a:off x="3931920" y="2468880"/>
            <a:ext cx="822960" cy="59436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2" name="Block 144"/>
          <p:cNvSpPr/>
          <p:nvPr/>
        </p:nvSpPr>
        <p:spPr>
          <a:xfrm>
            <a:off x="731520" y="2423160"/>
            <a:ext cx="1005840" cy="5486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3" name="Route"/>
          <p:cNvSpPr/>
          <p:nvPr/>
        </p:nvSpPr>
        <p:spPr>
          <a:xfrm>
            <a:off x="731520" y="3246120"/>
            <a:ext cx="2926080" cy="0"/>
          </a:xfrm>
          <a:prstGeom prst="line">
            <a:avLst/>
          </a:prstGeom>
          <a:noFill/>
          <a:ln w="50800">
            <a:solidFill>
              <a:srgbClr val="0EA5E9"/>
            </a:solidFill>
            <a:prstDash val="dash"/>
          </a:ln>
        </p:spPr>
      </p:sp>
      <p:sp>
        <p:nvSpPr>
          <p:cNvPr id="14" name="Route end"/>
          <p:cNvSpPr/>
          <p:nvPr/>
        </p:nvSpPr>
        <p:spPr>
          <a:xfrm>
            <a:off x="3657600" y="3246120"/>
            <a:ext cx="0" cy="685800"/>
          </a:xfrm>
          <a:prstGeom prst="line">
            <a:avLst/>
          </a:prstGeom>
          <a:noFill/>
          <a:ln w="50800">
            <a:solidFill>
              <a:srgbClr val="0EA5E9"/>
            </a:solidFill>
            <a:prstDash val="dash"/>
          </a:ln>
        </p:spPr>
      </p:sp>
      <p:sp>
        <p:nvSpPr>
          <p:cNvPr id="15" name="Circle 145"/>
          <p:cNvSpPr/>
          <p:nvPr/>
        </p:nvSpPr>
        <p:spPr>
          <a:xfrm>
            <a:off x="3520440" y="3794760"/>
            <a:ext cx="274320" cy="274320"/>
          </a:xfrm>
          <a:prstGeom prst="ellipse">
            <a:avLst/>
          </a:prstGeom>
          <a:solidFill>
            <a:schemeClr val="accent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Circle 146"/>
          <p:cNvSpPr/>
          <p:nvPr/>
        </p:nvSpPr>
        <p:spPr>
          <a:xfrm>
            <a:off x="1847088" y="1984248"/>
            <a:ext cx="329184" cy="329184"/>
          </a:xfrm>
          <a:prstGeom prst="ellipse">
            <a:avLst/>
          </a:prstGeom>
          <a:solidFill>
            <a:schemeClr val="accent3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7" name="Circle 147"/>
          <p:cNvSpPr/>
          <p:nvPr/>
        </p:nvSpPr>
        <p:spPr>
          <a:xfrm>
            <a:off x="3493008" y="1984248"/>
            <a:ext cx="329184" cy="329184"/>
          </a:xfrm>
          <a:prstGeom prst="ellipse">
            <a:avLst/>
          </a:prstGeom>
          <a:solidFill>
            <a:schemeClr val="accent2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8" name="Circle 148"/>
          <p:cNvSpPr/>
          <p:nvPr/>
        </p:nvSpPr>
        <p:spPr>
          <a:xfrm>
            <a:off x="932688" y="3081528"/>
            <a:ext cx="329184" cy="329184"/>
          </a:xfrm>
          <a:prstGeom prst="ellipse">
            <a:avLst/>
          </a:prstGeom>
          <a:solidFill>
            <a:schemeClr val="accent2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9" name="Circle 149"/>
          <p:cNvSpPr/>
          <p:nvPr/>
        </p:nvSpPr>
        <p:spPr>
          <a:xfrm>
            <a:off x="2670048" y="3081528"/>
            <a:ext cx="329184" cy="329184"/>
          </a:xfrm>
          <a:prstGeom prst="ellipse">
            <a:avLst/>
          </a:prstGeom>
          <a:solidFill>
            <a:schemeClr val="accent4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0" name="Card 150"/>
          <p:cNvSpPr/>
          <p:nvPr/>
        </p:nvSpPr>
        <p:spPr>
          <a:xfrm>
            <a:off x="2194560" y="1600200"/>
            <a:ext cx="1783080" cy="310896"/>
          </a:xfrm>
          <a:prstGeom prst="roundRect">
            <a:avLst>
              <a:gd name="adj" fmla="val 41176"/>
            </a:avLst>
          </a:prstGeom>
          <a:solidFill>
            <a:schemeClr val="tx1"/>
          </a:solidFill>
          <a:ln/>
        </p:spPr>
      </p:sp>
      <p:sp>
        <p:nvSpPr>
          <p:cNvPr id="21" name="Text 151"/>
          <p:cNvSpPr txBox="1"/>
          <p:nvPr/>
        </p:nvSpPr>
        <p:spPr>
          <a:xfrm>
            <a:off x="2194560" y="160020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Route avoids critical hazard</a:t>
            </a:r>
            <a:endParaRPr lang="en-US" sz="1000" dirty="0"/>
          </a:p>
        </p:txBody>
      </p:sp>
      <p:sp>
        <p:nvSpPr>
          <p:cNvPr id="22" name="Circle 152"/>
          <p:cNvSpPr/>
          <p:nvPr/>
        </p:nvSpPr>
        <p:spPr>
          <a:xfrm>
            <a:off x="493776" y="4334256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3" name="Text 153"/>
          <p:cNvSpPr txBox="1"/>
          <p:nvPr/>
        </p:nvSpPr>
        <p:spPr>
          <a:xfrm>
            <a:off x="749808" y="43159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Critical</a:t>
            </a:r>
            <a:endParaRPr lang="en-US" sz="1200" dirty="0"/>
          </a:p>
        </p:txBody>
      </p:sp>
      <p:sp>
        <p:nvSpPr>
          <p:cNvPr id="24" name="Circle 154"/>
          <p:cNvSpPr/>
          <p:nvPr/>
        </p:nvSpPr>
        <p:spPr>
          <a:xfrm>
            <a:off x="1865376" y="4334256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ext 155"/>
          <p:cNvSpPr txBox="1"/>
          <p:nvPr/>
        </p:nvSpPr>
        <p:spPr>
          <a:xfrm>
            <a:off x="2121408" y="43159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Moderate</a:t>
            </a:r>
            <a:endParaRPr lang="en-US" sz="1200" dirty="0"/>
          </a:p>
        </p:txBody>
      </p:sp>
      <p:sp>
        <p:nvSpPr>
          <p:cNvPr id="26" name="Circle 156"/>
          <p:cNvSpPr/>
          <p:nvPr/>
        </p:nvSpPr>
        <p:spPr>
          <a:xfrm>
            <a:off x="3236976" y="4334256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7" name="Text 157"/>
          <p:cNvSpPr txBox="1"/>
          <p:nvPr/>
        </p:nvSpPr>
        <p:spPr>
          <a:xfrm>
            <a:off x="3493008" y="43159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Low</a:t>
            </a:r>
            <a:endParaRPr lang="en-US" sz="1200" dirty="0"/>
          </a:p>
        </p:txBody>
      </p:sp>
      <p:sp>
        <p:nvSpPr>
          <p:cNvPr id="28" name="Circle 158"/>
          <p:cNvSpPr/>
          <p:nvPr/>
        </p:nvSpPr>
        <p:spPr>
          <a:xfrm>
            <a:off x="5280660" y="1330452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9" name="Icon 159" descr="MdLocation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1302" y="1441094"/>
            <a:ext cx="281635" cy="281635"/>
          </a:xfrm>
          <a:prstGeom prst="rect">
            <a:avLst/>
          </a:prstGeom>
        </p:spPr>
      </p:pic>
      <p:sp>
        <p:nvSpPr>
          <p:cNvPr id="30" name="Text 160"/>
          <p:cNvSpPr txBox="1"/>
          <p:nvPr/>
        </p:nvSpPr>
        <p:spPr>
          <a:xfrm>
            <a:off x="5943600" y="1298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Colour-coded pins</a:t>
            </a:r>
            <a:endParaRPr lang="en-US" sz="1500" dirty="0"/>
          </a:p>
        </p:txBody>
      </p:sp>
      <p:sp>
        <p:nvSpPr>
          <p:cNvPr id="31" name="Text 161"/>
          <p:cNvSpPr txBox="1"/>
          <p:nvPr/>
        </p:nvSpPr>
        <p:spPr>
          <a:xfrm>
            <a:off x="5943600" y="159105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Severity and status at a glance</a:t>
            </a:r>
            <a:endParaRPr lang="en-US" sz="1200" dirty="0"/>
          </a:p>
        </p:txBody>
      </p:sp>
      <p:sp>
        <p:nvSpPr>
          <p:cNvPr id="32" name="Circle 162"/>
          <p:cNvSpPr/>
          <p:nvPr/>
        </p:nvSpPr>
        <p:spPr>
          <a:xfrm>
            <a:off x="5280660" y="2061972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3" name="Icon 163" descr="MdRou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1302" y="2172614"/>
            <a:ext cx="281635" cy="281635"/>
          </a:xfrm>
          <a:prstGeom prst="rect">
            <a:avLst/>
          </a:prstGeom>
        </p:spPr>
      </p:pic>
      <p:sp>
        <p:nvSpPr>
          <p:cNvPr id="34" name="Text 164"/>
          <p:cNvSpPr txBox="1"/>
          <p:nvPr/>
        </p:nvSpPr>
        <p:spPr>
          <a:xfrm>
            <a:off x="5943600" y="2029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Safer routes</a:t>
            </a:r>
            <a:endParaRPr lang="en-US" sz="1500" dirty="0"/>
          </a:p>
        </p:txBody>
      </p:sp>
      <p:sp>
        <p:nvSpPr>
          <p:cNvPr id="35" name="Text 165"/>
          <p:cNvSpPr txBox="1"/>
          <p:nvPr/>
        </p:nvSpPr>
        <p:spPr>
          <a:xfrm>
            <a:off x="5943600" y="23225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Avoid or warn on critical hazards</a:t>
            </a:r>
            <a:endParaRPr lang="en-US" sz="1200" dirty="0"/>
          </a:p>
        </p:txBody>
      </p:sp>
      <p:sp>
        <p:nvSpPr>
          <p:cNvPr id="36" name="Circle 166"/>
          <p:cNvSpPr/>
          <p:nvPr/>
        </p:nvSpPr>
        <p:spPr>
          <a:xfrm>
            <a:off x="5280660" y="2793492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7" name="Icon 167" descr="MdNotification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1302" y="2904134"/>
            <a:ext cx="281635" cy="281635"/>
          </a:xfrm>
          <a:prstGeom prst="rect">
            <a:avLst/>
          </a:prstGeom>
        </p:spPr>
      </p:pic>
      <p:sp>
        <p:nvSpPr>
          <p:cNvPr id="38" name="Text 168"/>
          <p:cNvSpPr txBox="1"/>
          <p:nvPr/>
        </p:nvSpPr>
        <p:spPr>
          <a:xfrm>
            <a:off x="5943600" y="2761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Proximity alerts</a:t>
            </a:r>
            <a:endParaRPr lang="en-US" sz="1500" dirty="0"/>
          </a:p>
        </p:txBody>
      </p:sp>
      <p:sp>
        <p:nvSpPr>
          <p:cNvPr id="39" name="Text 169"/>
          <p:cNvSpPr txBox="1"/>
          <p:nvPr/>
        </p:nvSpPr>
        <p:spPr>
          <a:xfrm>
            <a:off x="5943600" y="30540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Heads-up before you reach one</a:t>
            </a:r>
            <a:endParaRPr lang="en-US" sz="1200" dirty="0"/>
          </a:p>
        </p:txBody>
      </p:sp>
      <p:sp>
        <p:nvSpPr>
          <p:cNvPr id="40" name="Circle 170"/>
          <p:cNvSpPr/>
          <p:nvPr/>
        </p:nvSpPr>
        <p:spPr>
          <a:xfrm>
            <a:off x="5280660" y="3525012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41" name="Icon 171" descr="MdThumbU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1302" y="3635654"/>
            <a:ext cx="281635" cy="281635"/>
          </a:xfrm>
          <a:prstGeom prst="rect">
            <a:avLst/>
          </a:prstGeom>
        </p:spPr>
      </p:pic>
      <p:sp>
        <p:nvSpPr>
          <p:cNvPr id="42" name="Text 172"/>
          <p:cNvSpPr txBox="1"/>
          <p:nvPr/>
        </p:nvSpPr>
        <p:spPr>
          <a:xfrm>
            <a:off x="5943600" y="3493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Stay fresh</a:t>
            </a:r>
            <a:endParaRPr lang="en-US" sz="1500" dirty="0"/>
          </a:p>
        </p:txBody>
      </p:sp>
      <p:sp>
        <p:nvSpPr>
          <p:cNvPr id="43" name="Text 173"/>
          <p:cNvSpPr txBox="1"/>
          <p:nvPr/>
        </p:nvSpPr>
        <p:spPr>
          <a:xfrm>
            <a:off x="5943600" y="37856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Confirm or mark 'still there'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Severity score: what to fix first</a:t>
            </a:r>
            <a:endParaRPr lang="en-US" sz="3000" dirty="0"/>
          </a:p>
        </p:txBody>
      </p:sp>
      <p:sp>
        <p:nvSpPr>
          <p:cNvPr id="3" name="Circle 174"/>
          <p:cNvSpPr/>
          <p:nvPr/>
        </p:nvSpPr>
        <p:spPr>
          <a:xfrm>
            <a:off x="8129016" y="35661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con 175" descr="MdBar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3740" y="481340"/>
            <a:ext cx="317480" cy="317480"/>
          </a:xfrm>
          <a:prstGeom prst="rect">
            <a:avLst/>
          </a:prstGeom>
        </p:spPr>
      </p:pic>
      <p:graphicFrame>
        <p:nvGraphicFramePr>
          <p:cNvPr id="5" name="Chart 0" descr=""/>
          <p:cNvGraphicFramePr/>
          <p:nvPr/>
        </p:nvGraphicFramePr>
        <p:xfrm>
          <a:off x="365760" y="1143000"/>
          <a:ext cx="43891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Card 176"/>
          <p:cNvSpPr/>
          <p:nvPr/>
        </p:nvSpPr>
        <p:spPr>
          <a:xfrm>
            <a:off x="5029200" y="1280160"/>
            <a:ext cx="3657600" cy="96012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7" name="Card 177"/>
          <p:cNvSpPr/>
          <p:nvPr/>
        </p:nvSpPr>
        <p:spPr>
          <a:xfrm>
            <a:off x="5212080" y="1463040"/>
            <a:ext cx="1188720" cy="329184"/>
          </a:xfrm>
          <a:prstGeom prst="roundRect">
            <a:avLst>
              <a:gd name="adj" fmla="val 38889"/>
            </a:avLst>
          </a:prstGeom>
          <a:solidFill>
            <a:schemeClr val="accent3"/>
          </a:solidFill>
          <a:ln/>
        </p:spPr>
      </p:sp>
      <p:sp>
        <p:nvSpPr>
          <p:cNvPr id="8" name="Text 178"/>
          <p:cNvSpPr txBox="1"/>
          <p:nvPr/>
        </p:nvSpPr>
        <p:spPr>
          <a:xfrm>
            <a:off x="5212080" y="14630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CRITICAL</a:t>
            </a:r>
            <a:endParaRPr lang="en-US" sz="1200" dirty="0"/>
          </a:p>
        </p:txBody>
      </p:sp>
      <p:sp>
        <p:nvSpPr>
          <p:cNvPr id="9" name="Text 179"/>
          <p:cNvSpPr txBox="1"/>
          <p:nvPr/>
        </p:nvSpPr>
        <p:spPr>
          <a:xfrm>
            <a:off x="6583680" y="14447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75 - 100</a:t>
            </a:r>
            <a:endParaRPr lang="en-US" sz="2000" dirty="0"/>
          </a:p>
        </p:txBody>
      </p:sp>
      <p:sp>
        <p:nvSpPr>
          <p:cNvPr id="10" name="Text 180"/>
          <p:cNvSpPr txBox="1"/>
          <p:nvPr/>
        </p:nvSpPr>
        <p:spPr>
          <a:xfrm>
            <a:off x="5212080" y="18836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Make safe within 24 h (barricade, cut power)</a:t>
            </a:r>
            <a:endParaRPr lang="en-US" sz="1200" dirty="0"/>
          </a:p>
        </p:txBody>
      </p:sp>
      <p:sp>
        <p:nvSpPr>
          <p:cNvPr id="11" name="Card 181"/>
          <p:cNvSpPr/>
          <p:nvPr/>
        </p:nvSpPr>
        <p:spPr>
          <a:xfrm>
            <a:off x="5029200" y="2395728"/>
            <a:ext cx="3657600" cy="96012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2" name="Card 182"/>
          <p:cNvSpPr/>
          <p:nvPr/>
        </p:nvSpPr>
        <p:spPr>
          <a:xfrm>
            <a:off x="5212080" y="2578608"/>
            <a:ext cx="1188720" cy="329184"/>
          </a:xfrm>
          <a:prstGeom prst="roundRect">
            <a:avLst>
              <a:gd name="adj" fmla="val 38889"/>
            </a:avLst>
          </a:prstGeom>
          <a:solidFill>
            <a:schemeClr val="accent2"/>
          </a:solidFill>
          <a:ln/>
        </p:spPr>
      </p:sp>
      <p:sp>
        <p:nvSpPr>
          <p:cNvPr id="13" name="Text 183"/>
          <p:cNvSpPr txBox="1"/>
          <p:nvPr/>
        </p:nvSpPr>
        <p:spPr>
          <a:xfrm>
            <a:off x="5212080" y="25786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MODERATE</a:t>
            </a:r>
            <a:endParaRPr lang="en-US" sz="1200" dirty="0"/>
          </a:p>
        </p:txBody>
      </p:sp>
      <p:sp>
        <p:nvSpPr>
          <p:cNvPr id="14" name="Text 184"/>
          <p:cNvSpPr txBox="1"/>
          <p:nvPr/>
        </p:nvSpPr>
        <p:spPr>
          <a:xfrm>
            <a:off x="6583680" y="2560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40 - 74</a:t>
            </a:r>
            <a:endParaRPr lang="en-US" sz="2000" dirty="0"/>
          </a:p>
        </p:txBody>
      </p:sp>
      <p:sp>
        <p:nvSpPr>
          <p:cNvPr id="15" name="Text 185"/>
          <p:cNvSpPr txBox="1"/>
          <p:nvPr/>
        </p:nvSpPr>
        <p:spPr>
          <a:xfrm>
            <a:off x="5212080" y="29992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Fix within 3 to 7 days</a:t>
            </a:r>
            <a:endParaRPr lang="en-US" sz="1200" dirty="0"/>
          </a:p>
        </p:txBody>
      </p:sp>
      <p:sp>
        <p:nvSpPr>
          <p:cNvPr id="16" name="Card 186"/>
          <p:cNvSpPr/>
          <p:nvPr/>
        </p:nvSpPr>
        <p:spPr>
          <a:xfrm>
            <a:off x="5029200" y="3511296"/>
            <a:ext cx="3657600" cy="96012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7" name="Card 187"/>
          <p:cNvSpPr/>
          <p:nvPr/>
        </p:nvSpPr>
        <p:spPr>
          <a:xfrm>
            <a:off x="5212080" y="3694176"/>
            <a:ext cx="1188720" cy="329184"/>
          </a:xfrm>
          <a:prstGeom prst="roundRect">
            <a:avLst>
              <a:gd name="adj" fmla="val 38889"/>
            </a:avLst>
          </a:prstGeom>
          <a:solidFill>
            <a:schemeClr val="accent4"/>
          </a:solidFill>
          <a:ln/>
        </p:spPr>
      </p:sp>
      <p:sp>
        <p:nvSpPr>
          <p:cNvPr id="18" name="Text 188"/>
          <p:cNvSpPr txBox="1"/>
          <p:nvPr/>
        </p:nvSpPr>
        <p:spPr>
          <a:xfrm>
            <a:off x="5212080" y="36941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LOW</a:t>
            </a:r>
            <a:endParaRPr lang="en-US" sz="1200" dirty="0"/>
          </a:p>
        </p:txBody>
      </p:sp>
      <p:sp>
        <p:nvSpPr>
          <p:cNvPr id="19" name="Text 189"/>
          <p:cNvSpPr txBox="1"/>
          <p:nvPr/>
        </p:nvSpPr>
        <p:spPr>
          <a:xfrm>
            <a:off x="6583680" y="36758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0 - 39</a:t>
            </a:r>
            <a:endParaRPr lang="en-US" sz="2000" dirty="0"/>
          </a:p>
        </p:txBody>
      </p:sp>
      <p:sp>
        <p:nvSpPr>
          <p:cNvPr id="20" name="Text 190"/>
          <p:cNvSpPr txBox="1"/>
          <p:nvPr/>
        </p:nvSpPr>
        <p:spPr>
          <a:xfrm>
            <a:off x="5212080" y="4114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Scheduled routine maintenance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Fixes are verified by photograph</a:t>
            </a:r>
            <a:endParaRPr lang="en-US" sz="3000" dirty="0"/>
          </a:p>
        </p:txBody>
      </p:sp>
      <p:sp>
        <p:nvSpPr>
          <p:cNvPr id="3" name="Circle 191"/>
          <p:cNvSpPr/>
          <p:nvPr/>
        </p:nvSpPr>
        <p:spPr>
          <a:xfrm>
            <a:off x="8129016" y="356616"/>
            <a:ext cx="566928" cy="56692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4" name="Icon 192" descr="MdVerifi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3740" y="481340"/>
            <a:ext cx="317480" cy="317480"/>
          </a:xfrm>
          <a:prstGeom prst="rect">
            <a:avLst/>
          </a:prstGeom>
        </p:spPr>
      </p:pic>
      <p:sp>
        <p:nvSpPr>
          <p:cNvPr id="5" name="Shape 193"/>
          <p:cNvSpPr/>
          <p:nvPr/>
        </p:nvSpPr>
        <p:spPr>
          <a:xfrm>
            <a:off x="1097280" y="1499616"/>
            <a:ext cx="6949440" cy="4572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Circle 194"/>
          <p:cNvSpPr/>
          <p:nvPr/>
        </p:nvSpPr>
        <p:spPr>
          <a:xfrm>
            <a:off x="813816" y="1234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 195" descr="MdPhotoCame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40" y="1359164"/>
            <a:ext cx="317480" cy="317480"/>
          </a:xfrm>
          <a:prstGeom prst="rect">
            <a:avLst/>
          </a:prstGeom>
        </p:spPr>
      </p:pic>
      <p:sp>
        <p:nvSpPr>
          <p:cNvPr id="8" name="Text 196"/>
          <p:cNvSpPr txBox="1"/>
          <p:nvPr/>
        </p:nvSpPr>
        <p:spPr>
          <a:xfrm>
            <a:off x="274320" y="1920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Reported</a:t>
            </a:r>
            <a:endParaRPr lang="en-US" sz="1400" dirty="0"/>
          </a:p>
        </p:txBody>
      </p:sp>
      <p:sp>
        <p:nvSpPr>
          <p:cNvPr id="9" name="Text 197"/>
          <p:cNvSpPr txBox="1"/>
          <p:nvPr/>
        </p:nvSpPr>
        <p:spPr>
          <a:xfrm>
            <a:off x="274320" y="2194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Photo + pin</a:t>
            </a:r>
            <a:endParaRPr lang="en-US" sz="1200" dirty="0"/>
          </a:p>
        </p:txBody>
      </p:sp>
      <p:sp>
        <p:nvSpPr>
          <p:cNvPr id="10" name="Circle 198"/>
          <p:cNvSpPr/>
          <p:nvPr/>
        </p:nvSpPr>
        <p:spPr>
          <a:xfrm>
            <a:off x="2551176" y="1234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 199" descr="MdBarCha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5900" y="1359164"/>
            <a:ext cx="317480" cy="317480"/>
          </a:xfrm>
          <a:prstGeom prst="rect">
            <a:avLst/>
          </a:prstGeom>
        </p:spPr>
      </p:pic>
      <p:sp>
        <p:nvSpPr>
          <p:cNvPr id="12" name="Text 200"/>
          <p:cNvSpPr txBox="1"/>
          <p:nvPr/>
        </p:nvSpPr>
        <p:spPr>
          <a:xfrm>
            <a:off x="2011680" y="1920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Ranked</a:t>
            </a:r>
            <a:endParaRPr lang="en-US" sz="1400" dirty="0"/>
          </a:p>
        </p:txBody>
      </p:sp>
      <p:sp>
        <p:nvSpPr>
          <p:cNvPr id="13" name="Text 201"/>
          <p:cNvSpPr txBox="1"/>
          <p:nvPr/>
        </p:nvSpPr>
        <p:spPr>
          <a:xfrm>
            <a:off x="2011680" y="2194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Score 0 to 100</a:t>
            </a:r>
            <a:endParaRPr lang="en-US" sz="1200" dirty="0"/>
          </a:p>
        </p:txBody>
      </p:sp>
      <p:sp>
        <p:nvSpPr>
          <p:cNvPr id="14" name="Circle 202"/>
          <p:cNvSpPr/>
          <p:nvPr/>
        </p:nvSpPr>
        <p:spPr>
          <a:xfrm>
            <a:off x="4288536" y="1234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 203" descr="MdAssignmen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3260" y="1359164"/>
            <a:ext cx="317480" cy="317480"/>
          </a:xfrm>
          <a:prstGeom prst="rect">
            <a:avLst/>
          </a:prstGeom>
        </p:spPr>
      </p:pic>
      <p:sp>
        <p:nvSpPr>
          <p:cNvPr id="16" name="Text 204"/>
          <p:cNvSpPr txBox="1"/>
          <p:nvPr/>
        </p:nvSpPr>
        <p:spPr>
          <a:xfrm>
            <a:off x="3749040" y="1920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Assigned</a:t>
            </a:r>
            <a:endParaRPr lang="en-US" sz="1400" dirty="0"/>
          </a:p>
        </p:txBody>
      </p:sp>
      <p:sp>
        <p:nvSpPr>
          <p:cNvPr id="17" name="Text 205"/>
          <p:cNvSpPr txBox="1"/>
          <p:nvPr/>
        </p:nvSpPr>
        <p:spPr>
          <a:xfrm>
            <a:off x="3749040" y="2194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Crew + deadline</a:t>
            </a:r>
            <a:endParaRPr lang="en-US" sz="1200" dirty="0"/>
          </a:p>
        </p:txBody>
      </p:sp>
      <p:sp>
        <p:nvSpPr>
          <p:cNvPr id="18" name="Circle 206"/>
          <p:cNvSpPr/>
          <p:nvPr/>
        </p:nvSpPr>
        <p:spPr>
          <a:xfrm>
            <a:off x="6025896" y="1234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con 207" descr="MdBuil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0620" y="1359164"/>
            <a:ext cx="317480" cy="317480"/>
          </a:xfrm>
          <a:prstGeom prst="rect">
            <a:avLst/>
          </a:prstGeom>
        </p:spPr>
      </p:pic>
      <p:sp>
        <p:nvSpPr>
          <p:cNvPr id="20" name="Text 208"/>
          <p:cNvSpPr txBox="1"/>
          <p:nvPr/>
        </p:nvSpPr>
        <p:spPr>
          <a:xfrm>
            <a:off x="5486400" y="1920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Fixed</a:t>
            </a:r>
            <a:endParaRPr lang="en-US" sz="1400" dirty="0"/>
          </a:p>
        </p:txBody>
      </p:sp>
      <p:sp>
        <p:nvSpPr>
          <p:cNvPr id="21" name="Text 209"/>
          <p:cNvSpPr txBox="1"/>
          <p:nvPr/>
        </p:nvSpPr>
        <p:spPr>
          <a:xfrm>
            <a:off x="5486400" y="2194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After-photo taken</a:t>
            </a:r>
            <a:endParaRPr lang="en-US" sz="1200" dirty="0"/>
          </a:p>
        </p:txBody>
      </p:sp>
      <p:sp>
        <p:nvSpPr>
          <p:cNvPr id="22" name="Circle 210"/>
          <p:cNvSpPr/>
          <p:nvPr/>
        </p:nvSpPr>
        <p:spPr>
          <a:xfrm>
            <a:off x="7763256" y="1234440"/>
            <a:ext cx="566928" cy="56692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3" name="Icon 211" descr="MdVerifie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7980" y="1359164"/>
            <a:ext cx="317480" cy="317480"/>
          </a:xfrm>
          <a:prstGeom prst="rect">
            <a:avLst/>
          </a:prstGeom>
        </p:spPr>
      </p:pic>
      <p:sp>
        <p:nvSpPr>
          <p:cNvPr id="24" name="Text 212"/>
          <p:cNvSpPr txBox="1"/>
          <p:nvPr/>
        </p:nvSpPr>
        <p:spPr>
          <a:xfrm>
            <a:off x="7223760" y="1920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Verified</a:t>
            </a:r>
            <a:endParaRPr lang="en-US" sz="1400" dirty="0"/>
          </a:p>
        </p:txBody>
      </p:sp>
      <p:sp>
        <p:nvSpPr>
          <p:cNvPr id="25" name="Text 213"/>
          <p:cNvSpPr txBox="1"/>
          <p:nvPr/>
        </p:nvSpPr>
        <p:spPr>
          <a:xfrm>
            <a:off x="7223760" y="2194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AI + citizens</a:t>
            </a:r>
            <a:endParaRPr lang="en-US" sz="1200" dirty="0"/>
          </a:p>
        </p:txBody>
      </p:sp>
      <p:sp>
        <p:nvSpPr>
          <p:cNvPr id="26" name="Card 214"/>
          <p:cNvSpPr/>
          <p:nvPr/>
        </p:nvSpPr>
        <p:spPr>
          <a:xfrm>
            <a:off x="457200" y="2743200"/>
            <a:ext cx="2286000" cy="1828800"/>
          </a:xfrm>
          <a:prstGeom prst="roundRect">
            <a:avLst>
              <a:gd name="adj" fmla="val 7000"/>
            </a:avLst>
          </a:prstGeom>
          <a:solidFill>
            <a:srgbClr val="FEE2E2"/>
          </a:solidFill>
          <a:ln/>
        </p:spPr>
      </p:sp>
      <p:sp>
        <p:nvSpPr>
          <p:cNvPr id="27" name="Circle 215"/>
          <p:cNvSpPr/>
          <p:nvPr/>
        </p:nvSpPr>
        <p:spPr>
          <a:xfrm>
            <a:off x="1325880" y="29718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8" name="Icon 216" descr="MdWarni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6581" y="3092501"/>
            <a:ext cx="307238" cy="307238"/>
          </a:xfrm>
          <a:prstGeom prst="rect">
            <a:avLst/>
          </a:prstGeom>
        </p:spPr>
      </p:pic>
      <p:sp>
        <p:nvSpPr>
          <p:cNvPr id="29" name="Text 217"/>
          <p:cNvSpPr txBox="1"/>
          <p:nvPr/>
        </p:nvSpPr>
        <p:spPr>
          <a:xfrm>
            <a:off x="45720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BEFORE</a:t>
            </a:r>
            <a:endParaRPr lang="en-US" sz="1500" dirty="0"/>
          </a:p>
        </p:txBody>
      </p:sp>
      <p:sp>
        <p:nvSpPr>
          <p:cNvPr id="30" name="Text 218"/>
          <p:cNvSpPr txBox="1"/>
          <p:nvPr/>
        </p:nvSpPr>
        <p:spPr>
          <a:xfrm>
            <a:off x="457200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Hazard photo + GPS pin</a:t>
            </a:r>
            <a:endParaRPr lang="en-US" sz="1200" dirty="0"/>
          </a:p>
        </p:txBody>
      </p:sp>
      <p:sp>
        <p:nvSpPr>
          <p:cNvPr id="31" name="Arrow 219"/>
          <p:cNvSpPr/>
          <p:nvPr/>
        </p:nvSpPr>
        <p:spPr>
          <a:xfrm>
            <a:off x="2834640" y="3520440"/>
            <a:ext cx="502920" cy="32004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32" name="Card 220"/>
          <p:cNvSpPr/>
          <p:nvPr/>
        </p:nvSpPr>
        <p:spPr>
          <a:xfrm>
            <a:off x="3429000" y="2743200"/>
            <a:ext cx="2286000" cy="1828800"/>
          </a:xfrm>
          <a:prstGeom prst="roundRect">
            <a:avLst>
              <a:gd name="adj" fmla="val 7000"/>
            </a:avLst>
          </a:prstGeom>
          <a:solidFill>
            <a:srgbClr val="DCFCE7"/>
          </a:solidFill>
          <a:ln/>
        </p:spPr>
      </p:sp>
      <p:sp>
        <p:nvSpPr>
          <p:cNvPr id="33" name="Circle 221"/>
          <p:cNvSpPr/>
          <p:nvPr/>
        </p:nvSpPr>
        <p:spPr>
          <a:xfrm>
            <a:off x="4297680" y="297180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4" name="Icon 222" descr="MdCheckCircl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18381" y="3092501"/>
            <a:ext cx="307238" cy="307238"/>
          </a:xfrm>
          <a:prstGeom prst="rect">
            <a:avLst/>
          </a:prstGeom>
        </p:spPr>
      </p:pic>
      <p:sp>
        <p:nvSpPr>
          <p:cNvPr id="35" name="Text 223"/>
          <p:cNvSpPr txBox="1"/>
          <p:nvPr/>
        </p:nvSpPr>
        <p:spPr>
          <a:xfrm>
            <a:off x="342900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AFTER</a:t>
            </a:r>
            <a:endParaRPr lang="en-US" sz="1500" dirty="0"/>
          </a:p>
        </p:txBody>
      </p:sp>
      <p:sp>
        <p:nvSpPr>
          <p:cNvPr id="36" name="Text 224"/>
          <p:cNvSpPr txBox="1"/>
          <p:nvPr/>
        </p:nvSpPr>
        <p:spPr>
          <a:xfrm>
            <a:off x="3429000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Same spot, new photo</a:t>
            </a:r>
            <a:endParaRPr lang="en-US" sz="1200" dirty="0"/>
          </a:p>
        </p:txBody>
      </p:sp>
      <p:sp>
        <p:nvSpPr>
          <p:cNvPr id="37" name="Card 225"/>
          <p:cNvSpPr/>
          <p:nvPr/>
        </p:nvSpPr>
        <p:spPr>
          <a:xfrm>
            <a:off x="5943600" y="2743200"/>
            <a:ext cx="2743200" cy="182880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/>
        </p:spPr>
      </p:sp>
      <p:sp>
        <p:nvSpPr>
          <p:cNvPr id="38" name="Text 226"/>
          <p:cNvSpPr txBox="1"/>
          <p:nvPr/>
        </p:nvSpPr>
        <p:spPr>
          <a:xfrm>
            <a:off x="6126480" y="28529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Checked before closing</a:t>
            </a:r>
            <a:endParaRPr lang="en-US" sz="1400" dirty="0"/>
          </a:p>
        </p:txBody>
      </p:sp>
      <p:sp>
        <p:nvSpPr>
          <p:cNvPr id="39" name="Text 227"/>
          <p:cNvSpPr txBox="1"/>
          <p:nvPr/>
        </p:nvSpPr>
        <p:spPr>
          <a:xfrm>
            <a:off x="6126480" y="32004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GPS matches the pin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Timestamp after the report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AI compares before/after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Citizens vote 'still there?'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it is built</a:t>
            </a:r>
            <a:endParaRPr lang="en-US" sz="3000" dirty="0"/>
          </a:p>
        </p:txBody>
      </p:sp>
      <p:sp>
        <p:nvSpPr>
          <p:cNvPr id="3" name="Circle 228"/>
          <p:cNvSpPr/>
          <p:nvPr/>
        </p:nvSpPr>
        <p:spPr>
          <a:xfrm>
            <a:off x="8129016" y="35661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con 229" descr="MdAp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3740" y="481340"/>
            <a:ext cx="317480" cy="317480"/>
          </a:xfrm>
          <a:prstGeom prst="rect">
            <a:avLst/>
          </a:prstGeom>
        </p:spPr>
      </p:pic>
      <p:sp>
        <p:nvSpPr>
          <p:cNvPr id="5" name="Card 230"/>
          <p:cNvSpPr/>
          <p:nvPr/>
        </p:nvSpPr>
        <p:spPr>
          <a:xfrm>
            <a:off x="457200" y="1234440"/>
            <a:ext cx="1645920" cy="822960"/>
          </a:xfrm>
          <a:prstGeom prst="roundRect">
            <a:avLst>
              <a:gd name="adj" fmla="val 15556"/>
            </a:avLst>
          </a:prstGeom>
          <a:solidFill>
            <a:schemeClr val="accent1"/>
          </a:solidFill>
          <a:ln/>
        </p:spPr>
      </p:sp>
      <p:sp>
        <p:nvSpPr>
          <p:cNvPr id="6" name="Text 231"/>
          <p:cNvSpPr txBox="1"/>
          <p:nvPr/>
        </p:nvSpPr>
        <p:spPr>
          <a:xfrm>
            <a:off x="548640" y="1298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Citizen app</a:t>
            </a:r>
            <a:endParaRPr lang="en-US" sz="1400" dirty="0"/>
          </a:p>
        </p:txBody>
      </p:sp>
      <p:sp>
        <p:nvSpPr>
          <p:cNvPr id="7" name="Text 232"/>
          <p:cNvSpPr txBox="1"/>
          <p:nvPr/>
        </p:nvSpPr>
        <p:spPr>
          <a:xfrm>
            <a:off x="548640" y="160934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PWA, camera, GPS, voice</a:t>
            </a:r>
            <a:endParaRPr lang="en-US" sz="1100" dirty="0"/>
          </a:p>
        </p:txBody>
      </p:sp>
      <p:sp>
        <p:nvSpPr>
          <p:cNvPr id="8" name="Card 233"/>
          <p:cNvSpPr/>
          <p:nvPr/>
        </p:nvSpPr>
        <p:spPr>
          <a:xfrm>
            <a:off x="2377440" y="1234440"/>
            <a:ext cx="1645920" cy="822960"/>
          </a:xfrm>
          <a:prstGeom prst="roundRect">
            <a:avLst>
              <a:gd name="adj" fmla="val 15556"/>
            </a:avLst>
          </a:prstGeom>
          <a:solidFill>
            <a:schemeClr val="accent1"/>
          </a:solidFill>
          <a:ln/>
        </p:spPr>
      </p:sp>
      <p:sp>
        <p:nvSpPr>
          <p:cNvPr id="9" name="Text 234"/>
          <p:cNvSpPr txBox="1"/>
          <p:nvPr/>
        </p:nvSpPr>
        <p:spPr>
          <a:xfrm>
            <a:off x="2468880" y="1298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Public map</a:t>
            </a:r>
            <a:endParaRPr lang="en-US" sz="1400" dirty="0"/>
          </a:p>
        </p:txBody>
      </p:sp>
      <p:sp>
        <p:nvSpPr>
          <p:cNvPr id="10" name="Text 235"/>
          <p:cNvSpPr txBox="1"/>
          <p:nvPr/>
        </p:nvSpPr>
        <p:spPr>
          <a:xfrm>
            <a:off x="2468880" y="160934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MapLibre + OSM</a:t>
            </a:r>
            <a:endParaRPr lang="en-US" sz="1100" dirty="0"/>
          </a:p>
        </p:txBody>
      </p:sp>
      <p:sp>
        <p:nvSpPr>
          <p:cNvPr id="11" name="Card 236"/>
          <p:cNvSpPr/>
          <p:nvPr/>
        </p:nvSpPr>
        <p:spPr>
          <a:xfrm>
            <a:off x="4297680" y="1234440"/>
            <a:ext cx="1645920" cy="822960"/>
          </a:xfrm>
          <a:prstGeom prst="roundRect">
            <a:avLst>
              <a:gd name="adj" fmla="val 15556"/>
            </a:avLst>
          </a:prstGeom>
          <a:solidFill>
            <a:schemeClr val="accent1"/>
          </a:solidFill>
          <a:ln/>
        </p:spPr>
      </p:sp>
      <p:sp>
        <p:nvSpPr>
          <p:cNvPr id="12" name="Text 237"/>
          <p:cNvSpPr txBox="1"/>
          <p:nvPr/>
        </p:nvSpPr>
        <p:spPr>
          <a:xfrm>
            <a:off x="4389120" y="1298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Dashboard</a:t>
            </a:r>
            <a:endParaRPr lang="en-US" sz="1400" dirty="0"/>
          </a:p>
        </p:txBody>
      </p:sp>
      <p:sp>
        <p:nvSpPr>
          <p:cNvPr id="13" name="Text 238"/>
          <p:cNvSpPr txBox="1"/>
          <p:nvPr/>
        </p:nvSpPr>
        <p:spPr>
          <a:xfrm>
            <a:off x="4389120" y="160934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Queue, assign, verify</a:t>
            </a:r>
            <a:endParaRPr lang="en-US" sz="1100" dirty="0"/>
          </a:p>
        </p:txBody>
      </p:sp>
      <p:sp>
        <p:nvSpPr>
          <p:cNvPr id="14" name="Card 239"/>
          <p:cNvSpPr/>
          <p:nvPr/>
        </p:nvSpPr>
        <p:spPr>
          <a:xfrm>
            <a:off x="457200" y="2194560"/>
            <a:ext cx="5486400" cy="457200"/>
          </a:xfrm>
          <a:prstGeom prst="roundRect">
            <a:avLst>
              <a:gd name="adj" fmla="val 28000"/>
            </a:avLst>
          </a:prstGeom>
          <a:solidFill>
            <a:schemeClr val="tx1"/>
          </a:solidFill>
          <a:ln/>
        </p:spPr>
      </p:sp>
      <p:sp>
        <p:nvSpPr>
          <p:cNvPr id="15" name="Text 240"/>
          <p:cNvSpPr txBox="1"/>
          <p:nvPr/>
        </p:nvSpPr>
        <p:spPr>
          <a:xfrm>
            <a:off x="45720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API layer: REST + realtime updates</a:t>
            </a:r>
            <a:endParaRPr lang="en-US" sz="1400" dirty="0"/>
          </a:p>
        </p:txBody>
      </p:sp>
      <p:sp>
        <p:nvSpPr>
          <p:cNvPr id="16" name="Card 241"/>
          <p:cNvSpPr/>
          <p:nvPr/>
        </p:nvSpPr>
        <p:spPr>
          <a:xfrm>
            <a:off x="457200" y="2788920"/>
            <a:ext cx="1645920" cy="822960"/>
          </a:xfrm>
          <a:prstGeom prst="roundRect">
            <a:avLst>
              <a:gd name="adj" fmla="val 15556"/>
            </a:avLst>
          </a:prstGeom>
          <a:solidFill>
            <a:schemeClr val="accent5"/>
          </a:solidFill>
          <a:ln/>
        </p:spPr>
      </p:sp>
      <p:sp>
        <p:nvSpPr>
          <p:cNvPr id="17" name="Text 242"/>
          <p:cNvSpPr txBox="1"/>
          <p:nvPr/>
        </p:nvSpPr>
        <p:spPr>
          <a:xfrm>
            <a:off x="548640" y="28529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AI services</a:t>
            </a:r>
            <a:endParaRPr lang="en-US" sz="1400" dirty="0"/>
          </a:p>
        </p:txBody>
      </p:sp>
      <p:sp>
        <p:nvSpPr>
          <p:cNvPr id="18" name="Text 243"/>
          <p:cNvSpPr txBox="1"/>
          <p:nvPr/>
        </p:nvSpPr>
        <p:spPr>
          <a:xfrm>
            <a:off x="548640" y="31638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Classifier, speech, photo check</a:t>
            </a:r>
            <a:endParaRPr lang="en-US" sz="1100" dirty="0"/>
          </a:p>
        </p:txBody>
      </p:sp>
      <p:sp>
        <p:nvSpPr>
          <p:cNvPr id="19" name="Card 244"/>
          <p:cNvSpPr/>
          <p:nvPr/>
        </p:nvSpPr>
        <p:spPr>
          <a:xfrm>
            <a:off x="2377440" y="2788920"/>
            <a:ext cx="1645920" cy="822960"/>
          </a:xfrm>
          <a:prstGeom prst="roundRect">
            <a:avLst>
              <a:gd name="adj" fmla="val 15556"/>
            </a:avLst>
          </a:prstGeom>
          <a:solidFill>
            <a:schemeClr val="accent5"/>
          </a:solidFill>
          <a:ln/>
        </p:spPr>
      </p:sp>
      <p:sp>
        <p:nvSpPr>
          <p:cNvPr id="20" name="Text 245"/>
          <p:cNvSpPr txBox="1"/>
          <p:nvPr/>
        </p:nvSpPr>
        <p:spPr>
          <a:xfrm>
            <a:off x="2468880" y="28529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Scoring engine</a:t>
            </a:r>
            <a:endParaRPr lang="en-US" sz="1400" dirty="0"/>
          </a:p>
        </p:txBody>
      </p:sp>
      <p:sp>
        <p:nvSpPr>
          <p:cNvPr id="21" name="Text 246"/>
          <p:cNvSpPr txBox="1"/>
          <p:nvPr/>
        </p:nvSpPr>
        <p:spPr>
          <a:xfrm>
            <a:off x="2468880" y="31638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Severity rules + exposure</a:t>
            </a:r>
            <a:endParaRPr lang="en-US" sz="1100" dirty="0"/>
          </a:p>
        </p:txBody>
      </p:sp>
      <p:sp>
        <p:nvSpPr>
          <p:cNvPr id="22" name="Card 247"/>
          <p:cNvSpPr/>
          <p:nvPr/>
        </p:nvSpPr>
        <p:spPr>
          <a:xfrm>
            <a:off x="4297680" y="2788920"/>
            <a:ext cx="1645920" cy="822960"/>
          </a:xfrm>
          <a:prstGeom prst="roundRect">
            <a:avLst>
              <a:gd name="adj" fmla="val 15556"/>
            </a:avLst>
          </a:prstGeom>
          <a:solidFill>
            <a:schemeClr val="accent5"/>
          </a:solidFill>
          <a:ln/>
        </p:spPr>
      </p:sp>
      <p:sp>
        <p:nvSpPr>
          <p:cNvPr id="23" name="Text 248"/>
          <p:cNvSpPr txBox="1"/>
          <p:nvPr/>
        </p:nvSpPr>
        <p:spPr>
          <a:xfrm>
            <a:off x="4389120" y="28529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Notifications</a:t>
            </a:r>
            <a:endParaRPr lang="en-US" sz="1400" dirty="0"/>
          </a:p>
        </p:txBody>
      </p:sp>
      <p:sp>
        <p:nvSpPr>
          <p:cNvPr id="24" name="Text 249"/>
          <p:cNvSpPr txBox="1"/>
          <p:nvPr/>
        </p:nvSpPr>
        <p:spPr>
          <a:xfrm>
            <a:off x="4389120" y="31638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Push, SMS, email</a:t>
            </a:r>
            <a:endParaRPr lang="en-US" sz="1100" dirty="0"/>
          </a:p>
        </p:txBody>
      </p:sp>
      <p:sp>
        <p:nvSpPr>
          <p:cNvPr id="25" name="Card 250"/>
          <p:cNvSpPr/>
          <p:nvPr/>
        </p:nvSpPr>
        <p:spPr>
          <a:xfrm>
            <a:off x="457200" y="3749040"/>
            <a:ext cx="5486400" cy="502920"/>
          </a:xfrm>
          <a:prstGeom prst="roundRect">
            <a:avLst>
              <a:gd name="adj" fmla="val 25455"/>
            </a:avLst>
          </a:prstGeom>
          <a:solidFill>
            <a:schemeClr val="tx2"/>
          </a:solidFill>
          <a:ln/>
        </p:spPr>
      </p:sp>
      <p:sp>
        <p:nvSpPr>
          <p:cNvPr id="26" name="Text 251"/>
          <p:cNvSpPr txBox="1"/>
          <p:nvPr/>
        </p:nvSpPr>
        <p:spPr>
          <a:xfrm>
            <a:off x="457200" y="3749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PostgreSQL + PostGIS  |  photo and audio storage</a:t>
            </a:r>
            <a:endParaRPr lang="en-US" sz="1400" dirty="0"/>
          </a:p>
        </p:txBody>
      </p:sp>
      <p:sp>
        <p:nvSpPr>
          <p:cNvPr id="27" name="Text 252"/>
          <p:cNvSpPr txBox="1"/>
          <p:nvPr/>
        </p:nvSpPr>
        <p:spPr>
          <a:xfrm>
            <a:off x="6309360" y="1234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Hackathon-friendly stack</a:t>
            </a:r>
            <a:endParaRPr lang="en-US" sz="1500" dirty="0"/>
          </a:p>
        </p:txBody>
      </p:sp>
      <p:sp>
        <p:nvSpPr>
          <p:cNvPr id="28" name="Card 253"/>
          <p:cNvSpPr/>
          <p:nvPr/>
        </p:nvSpPr>
        <p:spPr>
          <a:xfrm>
            <a:off x="6309360" y="1645920"/>
            <a:ext cx="2377440" cy="420624"/>
          </a:xfrm>
          <a:prstGeom prst="roundRect">
            <a:avLst>
              <a:gd name="adj" fmla="val 30435"/>
            </a:avLst>
          </a:prstGeom>
          <a:solidFill>
            <a:schemeClr val="bg2"/>
          </a:solidFill>
          <a:ln/>
        </p:spPr>
      </p:sp>
      <p:sp>
        <p:nvSpPr>
          <p:cNvPr id="29" name="Circle 254"/>
          <p:cNvSpPr/>
          <p:nvPr/>
        </p:nvSpPr>
        <p:spPr>
          <a:xfrm>
            <a:off x="6446520" y="1764792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55"/>
          <p:cNvSpPr txBox="1"/>
          <p:nvPr/>
        </p:nvSpPr>
        <p:spPr>
          <a:xfrm>
            <a:off x="6766560" y="164592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React PWA</a:t>
            </a:r>
            <a:endParaRPr lang="en-US" sz="1300" dirty="0"/>
          </a:p>
        </p:txBody>
      </p:sp>
      <p:sp>
        <p:nvSpPr>
          <p:cNvPr id="31" name="Card 256"/>
          <p:cNvSpPr/>
          <p:nvPr/>
        </p:nvSpPr>
        <p:spPr>
          <a:xfrm>
            <a:off x="6309360" y="2176272"/>
            <a:ext cx="2377440" cy="420624"/>
          </a:xfrm>
          <a:prstGeom prst="roundRect">
            <a:avLst>
              <a:gd name="adj" fmla="val 30435"/>
            </a:avLst>
          </a:prstGeom>
          <a:solidFill>
            <a:schemeClr val="bg2"/>
          </a:solidFill>
          <a:ln/>
        </p:spPr>
      </p:sp>
      <p:sp>
        <p:nvSpPr>
          <p:cNvPr id="32" name="Circle 257"/>
          <p:cNvSpPr/>
          <p:nvPr/>
        </p:nvSpPr>
        <p:spPr>
          <a:xfrm>
            <a:off x="6446520" y="2295144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Text 258"/>
          <p:cNvSpPr txBox="1"/>
          <p:nvPr/>
        </p:nvSpPr>
        <p:spPr>
          <a:xfrm>
            <a:off x="6766560" y="217627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MapLibre + OpenStreetMap</a:t>
            </a:r>
            <a:endParaRPr lang="en-US" sz="1300" dirty="0"/>
          </a:p>
        </p:txBody>
      </p:sp>
      <p:sp>
        <p:nvSpPr>
          <p:cNvPr id="34" name="Card 259"/>
          <p:cNvSpPr/>
          <p:nvPr/>
        </p:nvSpPr>
        <p:spPr>
          <a:xfrm>
            <a:off x="6309360" y="2706624"/>
            <a:ext cx="2377440" cy="420624"/>
          </a:xfrm>
          <a:prstGeom prst="roundRect">
            <a:avLst>
              <a:gd name="adj" fmla="val 30435"/>
            </a:avLst>
          </a:prstGeom>
          <a:solidFill>
            <a:schemeClr val="bg2"/>
          </a:solidFill>
          <a:ln/>
        </p:spPr>
      </p:sp>
      <p:sp>
        <p:nvSpPr>
          <p:cNvPr id="35" name="Circle 260"/>
          <p:cNvSpPr/>
          <p:nvPr/>
        </p:nvSpPr>
        <p:spPr>
          <a:xfrm>
            <a:off x="6446520" y="2825496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6" name="Text 261"/>
          <p:cNvSpPr txBox="1"/>
          <p:nvPr/>
        </p:nvSpPr>
        <p:spPr>
          <a:xfrm>
            <a:off x="6766560" y="270662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FastAPI or Node.js</a:t>
            </a:r>
            <a:endParaRPr lang="en-US" sz="1300" dirty="0"/>
          </a:p>
        </p:txBody>
      </p:sp>
      <p:sp>
        <p:nvSpPr>
          <p:cNvPr id="37" name="Card 262"/>
          <p:cNvSpPr/>
          <p:nvPr/>
        </p:nvSpPr>
        <p:spPr>
          <a:xfrm>
            <a:off x="6309360" y="3236976"/>
            <a:ext cx="2377440" cy="420624"/>
          </a:xfrm>
          <a:prstGeom prst="roundRect">
            <a:avLst>
              <a:gd name="adj" fmla="val 30435"/>
            </a:avLst>
          </a:prstGeom>
          <a:solidFill>
            <a:schemeClr val="bg2"/>
          </a:solidFill>
          <a:ln/>
        </p:spPr>
      </p:sp>
      <p:sp>
        <p:nvSpPr>
          <p:cNvPr id="38" name="Circle 263"/>
          <p:cNvSpPr/>
          <p:nvPr/>
        </p:nvSpPr>
        <p:spPr>
          <a:xfrm>
            <a:off x="6446520" y="3355848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9" name="Text 264"/>
          <p:cNvSpPr txBox="1"/>
          <p:nvPr/>
        </p:nvSpPr>
        <p:spPr>
          <a:xfrm>
            <a:off x="6766560" y="323697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PostgreSQL + PostGIS</a:t>
            </a:r>
            <a:endParaRPr lang="en-US" sz="1300" dirty="0"/>
          </a:p>
        </p:txBody>
      </p:sp>
      <p:sp>
        <p:nvSpPr>
          <p:cNvPr id="40" name="Card 265"/>
          <p:cNvSpPr/>
          <p:nvPr/>
        </p:nvSpPr>
        <p:spPr>
          <a:xfrm>
            <a:off x="6309360" y="3767328"/>
            <a:ext cx="2377440" cy="420624"/>
          </a:xfrm>
          <a:prstGeom prst="roundRect">
            <a:avLst>
              <a:gd name="adj" fmla="val 30435"/>
            </a:avLst>
          </a:prstGeom>
          <a:solidFill>
            <a:schemeClr val="bg2"/>
          </a:solidFill>
          <a:ln/>
        </p:spPr>
      </p:sp>
      <p:sp>
        <p:nvSpPr>
          <p:cNvPr id="41" name="Circle 266"/>
          <p:cNvSpPr/>
          <p:nvPr/>
        </p:nvSpPr>
        <p:spPr>
          <a:xfrm>
            <a:off x="6446520" y="388620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2" name="Text 267"/>
          <p:cNvSpPr txBox="1"/>
          <p:nvPr/>
        </p:nvSpPr>
        <p:spPr>
          <a:xfrm>
            <a:off x="6766560" y="376732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Vision + speech AI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Build plan: MVP first</a:t>
            </a:r>
            <a:endParaRPr lang="en-US" sz="3000" dirty="0"/>
          </a:p>
        </p:txBody>
      </p:sp>
      <p:sp>
        <p:nvSpPr>
          <p:cNvPr id="3" name="Circle 268"/>
          <p:cNvSpPr/>
          <p:nvPr/>
        </p:nvSpPr>
        <p:spPr>
          <a:xfrm>
            <a:off x="8129016" y="35661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con 269" descr="MdRocketLaun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3740" y="481340"/>
            <a:ext cx="317480" cy="317480"/>
          </a:xfrm>
          <a:prstGeom prst="rect">
            <a:avLst/>
          </a:prstGeom>
        </p:spPr>
      </p:pic>
      <p:sp>
        <p:nvSpPr>
          <p:cNvPr id="5" name="Card 270"/>
          <p:cNvSpPr/>
          <p:nvPr/>
        </p:nvSpPr>
        <p:spPr>
          <a:xfrm>
            <a:off x="457200" y="1280160"/>
            <a:ext cx="2560320" cy="324612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6" name="Circle 271"/>
          <p:cNvSpPr/>
          <p:nvPr/>
        </p:nvSpPr>
        <p:spPr>
          <a:xfrm>
            <a:off x="640080" y="146304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Icon 272" descr="MdFla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98" y="1603858"/>
            <a:ext cx="358445" cy="358445"/>
          </a:xfrm>
          <a:prstGeom prst="rect">
            <a:avLst/>
          </a:prstGeom>
        </p:spPr>
      </p:pic>
      <p:sp>
        <p:nvSpPr>
          <p:cNvPr id="8" name="Text 273"/>
          <p:cNvSpPr txBox="1"/>
          <p:nvPr/>
        </p:nvSpPr>
        <p:spPr>
          <a:xfrm>
            <a:off x="1371600" y="1508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MUST HAVE</a:t>
            </a:r>
            <a:endParaRPr lang="en-US" sz="1500" dirty="0"/>
          </a:p>
        </p:txBody>
      </p:sp>
      <p:sp>
        <p:nvSpPr>
          <p:cNvPr id="9" name="Text 274"/>
          <p:cNvSpPr txBox="1"/>
          <p:nvPr/>
        </p:nvSpPr>
        <p:spPr>
          <a:xfrm>
            <a:off x="685800" y="233172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Photo + auto-GPS report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Public map with severity pins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Ranked municipal queue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Close with after-photo</a:t>
            </a:r>
            <a:endParaRPr lang="en-US" sz="1400" dirty="0"/>
          </a:p>
        </p:txBody>
      </p:sp>
      <p:sp>
        <p:nvSpPr>
          <p:cNvPr id="10" name="Card 275"/>
          <p:cNvSpPr/>
          <p:nvPr/>
        </p:nvSpPr>
        <p:spPr>
          <a:xfrm>
            <a:off x="3291840" y="1280160"/>
            <a:ext cx="2560320" cy="324612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1" name="Circle 276"/>
          <p:cNvSpPr/>
          <p:nvPr/>
        </p:nvSpPr>
        <p:spPr>
          <a:xfrm>
            <a:off x="3474720" y="14630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con 277" descr="MdAutoAwesom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5538" y="1603858"/>
            <a:ext cx="358445" cy="358445"/>
          </a:xfrm>
          <a:prstGeom prst="rect">
            <a:avLst/>
          </a:prstGeom>
        </p:spPr>
      </p:pic>
      <p:sp>
        <p:nvSpPr>
          <p:cNvPr id="13" name="Text 278"/>
          <p:cNvSpPr txBox="1"/>
          <p:nvPr/>
        </p:nvSpPr>
        <p:spPr>
          <a:xfrm>
            <a:off x="4206240" y="1508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SHOULD HAVE</a:t>
            </a:r>
            <a:endParaRPr lang="en-US" sz="1500" dirty="0"/>
          </a:p>
        </p:txBody>
      </p:sp>
      <p:sp>
        <p:nvSpPr>
          <p:cNvPr id="14" name="Text 279"/>
          <p:cNvSpPr txBox="1"/>
          <p:nvPr/>
        </p:nvSpPr>
        <p:spPr>
          <a:xfrm>
            <a:off x="3520440" y="233172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 hazard classification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Voice note + transcript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Duplicate merging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Citizen confirm votes</a:t>
            </a:r>
            <a:endParaRPr lang="en-US" sz="1400" dirty="0"/>
          </a:p>
        </p:txBody>
      </p:sp>
      <p:sp>
        <p:nvSpPr>
          <p:cNvPr id="15" name="Card 280"/>
          <p:cNvSpPr/>
          <p:nvPr/>
        </p:nvSpPr>
        <p:spPr>
          <a:xfrm>
            <a:off x="6126480" y="1280160"/>
            <a:ext cx="2560320" cy="324612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6" name="Circle 281"/>
          <p:cNvSpPr/>
          <p:nvPr/>
        </p:nvSpPr>
        <p:spPr>
          <a:xfrm>
            <a:off x="6309360" y="146304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Icon 282" descr="MdSt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0178" y="1603858"/>
            <a:ext cx="358445" cy="358445"/>
          </a:xfrm>
          <a:prstGeom prst="rect">
            <a:avLst/>
          </a:prstGeom>
        </p:spPr>
      </p:pic>
      <p:sp>
        <p:nvSpPr>
          <p:cNvPr id="18" name="Text 283"/>
          <p:cNvSpPr txBox="1"/>
          <p:nvPr/>
        </p:nvSpPr>
        <p:spPr>
          <a:xfrm>
            <a:off x="7040880" y="1508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NICE TO HAVE</a:t>
            </a:r>
            <a:endParaRPr lang="en-US" sz="1500" dirty="0"/>
          </a:p>
        </p:txBody>
      </p:sp>
      <p:sp>
        <p:nvSpPr>
          <p:cNvPr id="19" name="Text 284"/>
          <p:cNvSpPr txBox="1"/>
          <p:nvPr/>
        </p:nvSpPr>
        <p:spPr>
          <a:xfrm>
            <a:off x="6355080" y="233172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Safer-route navigation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Proximity alerts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Hot-spot analytics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Multilingual UI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Demo and impact</a:t>
            </a:r>
            <a:endParaRPr lang="en-US" sz="3000" dirty="0"/>
          </a:p>
        </p:txBody>
      </p:sp>
      <p:sp>
        <p:nvSpPr>
          <p:cNvPr id="3" name="Circle 285"/>
          <p:cNvSpPr/>
          <p:nvPr/>
        </p:nvSpPr>
        <p:spPr>
          <a:xfrm>
            <a:off x="8129016" y="35661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con 286" descr="MdSpe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3740" y="481340"/>
            <a:ext cx="317480" cy="317480"/>
          </a:xfrm>
          <a:prstGeom prst="rect">
            <a:avLst/>
          </a:prstGeom>
        </p:spPr>
      </p:pic>
      <p:sp>
        <p:nvSpPr>
          <p:cNvPr id="5" name="Text 287"/>
          <p:cNvSpPr txBox="1"/>
          <p:nvPr/>
        </p:nvSpPr>
        <p:spPr>
          <a:xfrm>
            <a:off x="45720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3-minute demo</a:t>
            </a:r>
            <a:endParaRPr lang="en-US" sz="1600" dirty="0"/>
          </a:p>
        </p:txBody>
      </p:sp>
      <p:sp>
        <p:nvSpPr>
          <p:cNvPr id="6" name="Card 288"/>
          <p:cNvSpPr/>
          <p:nvPr/>
        </p:nvSpPr>
        <p:spPr>
          <a:xfrm>
            <a:off x="457200" y="1600200"/>
            <a:ext cx="731520" cy="411480"/>
          </a:xfrm>
          <a:prstGeom prst="roundRect">
            <a:avLst>
              <a:gd name="adj" fmla="val 31111"/>
            </a:avLst>
          </a:prstGeom>
          <a:solidFill>
            <a:schemeClr val="accent1"/>
          </a:solidFill>
          <a:ln/>
        </p:spPr>
      </p:sp>
      <p:sp>
        <p:nvSpPr>
          <p:cNvPr id="7" name="Text 289"/>
          <p:cNvSpPr txBox="1"/>
          <p:nvPr/>
        </p:nvSpPr>
        <p:spPr>
          <a:xfrm>
            <a:off x="457200" y="1600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0:00</a:t>
            </a:r>
            <a:endParaRPr lang="en-US" sz="1300" dirty="0"/>
          </a:p>
        </p:txBody>
      </p:sp>
      <p:sp>
        <p:nvSpPr>
          <p:cNvPr id="8" name="Text 290"/>
          <p:cNvSpPr txBox="1"/>
          <p:nvPr/>
        </p:nvSpPr>
        <p:spPr>
          <a:xfrm>
            <a:off x="1371600" y="1600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Report a campus hazard from the phone</a:t>
            </a:r>
            <a:endParaRPr lang="en-US" sz="1300" dirty="0"/>
          </a:p>
        </p:txBody>
      </p:sp>
      <p:sp>
        <p:nvSpPr>
          <p:cNvPr id="9" name="Card 291"/>
          <p:cNvSpPr/>
          <p:nvPr/>
        </p:nvSpPr>
        <p:spPr>
          <a:xfrm>
            <a:off x="457200" y="2194560"/>
            <a:ext cx="731520" cy="411480"/>
          </a:xfrm>
          <a:prstGeom prst="roundRect">
            <a:avLst>
              <a:gd name="adj" fmla="val 31111"/>
            </a:avLst>
          </a:prstGeom>
          <a:solidFill>
            <a:schemeClr val="accent1"/>
          </a:solidFill>
          <a:ln/>
        </p:spPr>
      </p:sp>
      <p:sp>
        <p:nvSpPr>
          <p:cNvPr id="10" name="Text 292"/>
          <p:cNvSpPr txBox="1"/>
          <p:nvPr/>
        </p:nvSpPr>
        <p:spPr>
          <a:xfrm>
            <a:off x="457200" y="21945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0:45</a:t>
            </a:r>
            <a:endParaRPr lang="en-US" sz="1300" dirty="0"/>
          </a:p>
        </p:txBody>
      </p:sp>
      <p:sp>
        <p:nvSpPr>
          <p:cNvPr id="11" name="Text 293"/>
          <p:cNvSpPr txBox="1"/>
          <p:nvPr/>
        </p:nvSpPr>
        <p:spPr>
          <a:xfrm>
            <a:off x="1371600" y="2194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Pin appears live on the public map</a:t>
            </a:r>
            <a:endParaRPr lang="en-US" sz="1300" dirty="0"/>
          </a:p>
        </p:txBody>
      </p:sp>
      <p:sp>
        <p:nvSpPr>
          <p:cNvPr id="12" name="Card 294"/>
          <p:cNvSpPr/>
          <p:nvPr/>
        </p:nvSpPr>
        <p:spPr>
          <a:xfrm>
            <a:off x="457200" y="2788920"/>
            <a:ext cx="731520" cy="411480"/>
          </a:xfrm>
          <a:prstGeom prst="roundRect">
            <a:avLst>
              <a:gd name="adj" fmla="val 31111"/>
            </a:avLst>
          </a:prstGeom>
          <a:solidFill>
            <a:schemeClr val="accent1"/>
          </a:solidFill>
          <a:ln/>
        </p:spPr>
      </p:sp>
      <p:sp>
        <p:nvSpPr>
          <p:cNvPr id="13" name="Text 295"/>
          <p:cNvSpPr txBox="1"/>
          <p:nvPr/>
        </p:nvSpPr>
        <p:spPr>
          <a:xfrm>
            <a:off x="457200" y="27889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1:30</a:t>
            </a:r>
            <a:endParaRPr lang="en-US" sz="1300" dirty="0"/>
          </a:p>
        </p:txBody>
      </p:sp>
      <p:sp>
        <p:nvSpPr>
          <p:cNvPr id="14" name="Text 296"/>
          <p:cNvSpPr txBox="1"/>
          <p:nvPr/>
        </p:nvSpPr>
        <p:spPr>
          <a:xfrm>
            <a:off x="1371600" y="2788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Hazard jumps to top of the ranked queue</a:t>
            </a:r>
            <a:endParaRPr lang="en-US" sz="1300" dirty="0"/>
          </a:p>
        </p:txBody>
      </p:sp>
      <p:sp>
        <p:nvSpPr>
          <p:cNvPr id="15" name="Card 297"/>
          <p:cNvSpPr/>
          <p:nvPr/>
        </p:nvSpPr>
        <p:spPr>
          <a:xfrm>
            <a:off x="457200" y="3383280"/>
            <a:ext cx="731520" cy="411480"/>
          </a:xfrm>
          <a:prstGeom prst="roundRect">
            <a:avLst>
              <a:gd name="adj" fmla="val 31111"/>
            </a:avLst>
          </a:prstGeom>
          <a:solidFill>
            <a:schemeClr val="accent1"/>
          </a:solidFill>
          <a:ln/>
        </p:spPr>
      </p:sp>
      <p:sp>
        <p:nvSpPr>
          <p:cNvPr id="16" name="Text 298"/>
          <p:cNvSpPr txBox="1"/>
          <p:nvPr/>
        </p:nvSpPr>
        <p:spPr>
          <a:xfrm>
            <a:off x="457200" y="33832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2:15</a:t>
            </a:r>
            <a:endParaRPr lang="en-US" sz="1300" dirty="0"/>
          </a:p>
        </p:txBody>
      </p:sp>
      <p:sp>
        <p:nvSpPr>
          <p:cNvPr id="17" name="Text 299"/>
          <p:cNvSpPr txBox="1"/>
          <p:nvPr/>
        </p:nvSpPr>
        <p:spPr>
          <a:xfrm>
            <a:off x="1371600" y="3383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After-photo uploaded, fix verified</a:t>
            </a:r>
            <a:endParaRPr lang="en-US" sz="1300" dirty="0"/>
          </a:p>
        </p:txBody>
      </p:sp>
      <p:sp>
        <p:nvSpPr>
          <p:cNvPr id="18" name="Card 300"/>
          <p:cNvSpPr/>
          <p:nvPr/>
        </p:nvSpPr>
        <p:spPr>
          <a:xfrm>
            <a:off x="457200" y="3977640"/>
            <a:ext cx="731520" cy="411480"/>
          </a:xfrm>
          <a:prstGeom prst="roundRect">
            <a:avLst>
              <a:gd name="adj" fmla="val 31111"/>
            </a:avLst>
          </a:prstGeom>
          <a:solidFill>
            <a:schemeClr val="accent1"/>
          </a:solidFill>
          <a:ln/>
        </p:spPr>
      </p:sp>
      <p:sp>
        <p:nvSpPr>
          <p:cNvPr id="19" name="Text 301"/>
          <p:cNvSpPr txBox="1"/>
          <p:nvPr/>
        </p:nvSpPr>
        <p:spPr>
          <a:xfrm>
            <a:off x="457200" y="39776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2:45</a:t>
            </a:r>
            <a:endParaRPr lang="en-US" sz="1300" dirty="0"/>
          </a:p>
        </p:txBody>
      </p:sp>
      <p:sp>
        <p:nvSpPr>
          <p:cNvPr id="20" name="Text 302"/>
          <p:cNvSpPr txBox="1"/>
          <p:nvPr/>
        </p:nvSpPr>
        <p:spPr>
          <a:xfrm>
            <a:off x="1371600" y="3977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Hot-spots and time-to-fix analytics</a:t>
            </a:r>
            <a:endParaRPr lang="en-US" sz="1300" dirty="0"/>
          </a:p>
        </p:txBody>
      </p:sp>
      <p:sp>
        <p:nvSpPr>
          <p:cNvPr id="21" name="Card 303"/>
          <p:cNvSpPr/>
          <p:nvPr/>
        </p:nvSpPr>
        <p:spPr>
          <a:xfrm>
            <a:off x="4937760" y="1234440"/>
            <a:ext cx="1783080" cy="1463040"/>
          </a:xfrm>
          <a:prstGeom prst="roundRect">
            <a:avLst>
              <a:gd name="adj" fmla="val 8750"/>
            </a:avLst>
          </a:prstGeom>
          <a:solidFill>
            <a:schemeClr val="tx1"/>
          </a:solidFill>
          <a:ln/>
        </p:spPr>
      </p:sp>
      <p:sp>
        <p:nvSpPr>
          <p:cNvPr id="22" name="Text 304"/>
          <p:cNvSpPr txBox="1"/>
          <p:nvPr/>
        </p:nvSpPr>
        <p:spPr>
          <a:xfrm>
            <a:off x="5029200" y="14173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&lt;10 s</a:t>
            </a:r>
            <a:endParaRPr lang="en-US" sz="3400" dirty="0"/>
          </a:p>
        </p:txBody>
      </p:sp>
      <p:sp>
        <p:nvSpPr>
          <p:cNvPr id="23" name="Text 305"/>
          <p:cNvSpPr txBox="1"/>
          <p:nvPr/>
        </p:nvSpPr>
        <p:spPr>
          <a:xfrm>
            <a:off x="5074920" y="21031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to submit a report</a:t>
            </a:r>
            <a:endParaRPr lang="en-US" sz="1200" dirty="0"/>
          </a:p>
        </p:txBody>
      </p:sp>
      <p:sp>
        <p:nvSpPr>
          <p:cNvPr id="24" name="Card 306"/>
          <p:cNvSpPr/>
          <p:nvPr/>
        </p:nvSpPr>
        <p:spPr>
          <a:xfrm>
            <a:off x="6858000" y="1234440"/>
            <a:ext cx="1783080" cy="1463040"/>
          </a:xfrm>
          <a:prstGeom prst="roundRect">
            <a:avLst>
              <a:gd name="adj" fmla="val 8750"/>
            </a:avLst>
          </a:prstGeom>
          <a:solidFill>
            <a:schemeClr val="bg2"/>
          </a:solidFill>
          <a:ln/>
        </p:spPr>
      </p:sp>
      <p:sp>
        <p:nvSpPr>
          <p:cNvPr id="25" name="Text 307"/>
          <p:cNvSpPr txBox="1"/>
          <p:nvPr/>
        </p:nvSpPr>
        <p:spPr>
          <a:xfrm>
            <a:off x="6949440" y="14173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&lt;4 h</a:t>
            </a:r>
            <a:endParaRPr lang="en-US" sz="3400" dirty="0"/>
          </a:p>
        </p:txBody>
      </p:sp>
      <p:sp>
        <p:nvSpPr>
          <p:cNvPr id="26" name="Text 308"/>
          <p:cNvSpPr txBox="1"/>
          <p:nvPr/>
        </p:nvSpPr>
        <p:spPr>
          <a:xfrm>
            <a:off x="6995160" y="21031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critical hazard to assignment</a:t>
            </a:r>
            <a:endParaRPr lang="en-US" sz="1200" dirty="0"/>
          </a:p>
        </p:txBody>
      </p:sp>
      <p:sp>
        <p:nvSpPr>
          <p:cNvPr id="27" name="Card 309"/>
          <p:cNvSpPr/>
          <p:nvPr/>
        </p:nvSpPr>
        <p:spPr>
          <a:xfrm>
            <a:off x="4937760" y="2880360"/>
            <a:ext cx="1783080" cy="1463040"/>
          </a:xfrm>
          <a:prstGeom prst="roundRect">
            <a:avLst>
              <a:gd name="adj" fmla="val 8750"/>
            </a:avLst>
          </a:prstGeom>
          <a:solidFill>
            <a:schemeClr val="bg2"/>
          </a:solidFill>
          <a:ln/>
        </p:spPr>
      </p:sp>
      <p:sp>
        <p:nvSpPr>
          <p:cNvPr id="28" name="Text 310"/>
          <p:cNvSpPr txBox="1"/>
          <p:nvPr/>
        </p:nvSpPr>
        <p:spPr>
          <a:xfrm>
            <a:off x="5029200" y="30632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100%</a:t>
            </a:r>
            <a:endParaRPr lang="en-US" sz="3400" dirty="0"/>
          </a:p>
        </p:txBody>
      </p:sp>
      <p:sp>
        <p:nvSpPr>
          <p:cNvPr id="29" name="Text 311"/>
          <p:cNvSpPr txBox="1"/>
          <p:nvPr/>
        </p:nvSpPr>
        <p:spPr>
          <a:xfrm>
            <a:off x="5074920" y="37490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fixes photo-verified</a:t>
            </a:r>
            <a:endParaRPr lang="en-US" sz="1200" dirty="0"/>
          </a:p>
        </p:txBody>
      </p:sp>
      <p:sp>
        <p:nvSpPr>
          <p:cNvPr id="30" name="Card 312"/>
          <p:cNvSpPr/>
          <p:nvPr/>
        </p:nvSpPr>
        <p:spPr>
          <a:xfrm>
            <a:off x="6858000" y="2880360"/>
            <a:ext cx="1783080" cy="1463040"/>
          </a:xfrm>
          <a:prstGeom prst="roundRect">
            <a:avLst>
              <a:gd name="adj" fmla="val 8750"/>
            </a:avLst>
          </a:prstGeom>
          <a:solidFill>
            <a:schemeClr val="tx1"/>
          </a:solidFill>
          <a:ln/>
        </p:spPr>
      </p:sp>
      <p:sp>
        <p:nvSpPr>
          <p:cNvPr id="31" name="Text 313"/>
          <p:cNvSpPr txBox="1"/>
          <p:nvPr/>
        </p:nvSpPr>
        <p:spPr>
          <a:xfrm>
            <a:off x="6949440" y="30632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24 h</a:t>
            </a:r>
            <a:endParaRPr lang="en-US" sz="3400" dirty="0"/>
          </a:p>
        </p:txBody>
      </p:sp>
      <p:sp>
        <p:nvSpPr>
          <p:cNvPr id="32" name="Text 314"/>
          <p:cNvSpPr txBox="1"/>
          <p:nvPr/>
        </p:nvSpPr>
        <p:spPr>
          <a:xfrm>
            <a:off x="6995160" y="37490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critical hazards made safe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Risks, and how we handle them</a:t>
            </a:r>
            <a:endParaRPr lang="en-US" sz="3000" dirty="0"/>
          </a:p>
        </p:txBody>
      </p:sp>
      <p:sp>
        <p:nvSpPr>
          <p:cNvPr id="3" name="Circle 315"/>
          <p:cNvSpPr/>
          <p:nvPr/>
        </p:nvSpPr>
        <p:spPr>
          <a:xfrm>
            <a:off x="8129016" y="35661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con 316" descr="MdSecuri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3740" y="481340"/>
            <a:ext cx="317480" cy="317480"/>
          </a:xfrm>
          <a:prstGeom prst="rect">
            <a:avLst/>
          </a:prstGeom>
        </p:spPr>
      </p:pic>
      <p:sp>
        <p:nvSpPr>
          <p:cNvPr id="5" name="Card 317"/>
          <p:cNvSpPr/>
          <p:nvPr/>
        </p:nvSpPr>
        <p:spPr>
          <a:xfrm>
            <a:off x="457200" y="1280160"/>
            <a:ext cx="4023360" cy="1554480"/>
          </a:xfrm>
          <a:prstGeom prst="roundRect">
            <a:avLst>
              <a:gd name="adj" fmla="val 8235"/>
            </a:avLst>
          </a:prstGeom>
          <a:solidFill>
            <a:schemeClr val="bg2"/>
          </a:solidFill>
          <a:ln/>
        </p:spPr>
      </p:sp>
      <p:sp>
        <p:nvSpPr>
          <p:cNvPr id="6" name="Circle 318"/>
          <p:cNvSpPr/>
          <p:nvPr/>
        </p:nvSpPr>
        <p:spPr>
          <a:xfrm>
            <a:off x="662940" y="148590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Icon 319" descr="MdB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99" y="1616659"/>
            <a:ext cx="332842" cy="332842"/>
          </a:xfrm>
          <a:prstGeom prst="rect">
            <a:avLst/>
          </a:prstGeom>
        </p:spPr>
      </p:pic>
      <p:sp>
        <p:nvSpPr>
          <p:cNvPr id="8" name="Text 320"/>
          <p:cNvSpPr txBox="1"/>
          <p:nvPr/>
        </p:nvSpPr>
        <p:spPr>
          <a:xfrm>
            <a:off x="1417320" y="1463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Fake or spam reports</a:t>
            </a:r>
            <a:endParaRPr lang="en-US" sz="1500" dirty="0"/>
          </a:p>
        </p:txBody>
      </p:sp>
      <p:sp>
        <p:nvSpPr>
          <p:cNvPr id="9" name="Text 321"/>
          <p:cNvSpPr txBox="1"/>
          <p:nvPr/>
        </p:nvSpPr>
        <p:spPr>
          <a:xfrm>
            <a:off x="1417320" y="184708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Photo and GPS required, rate limits, community confirmations, admin review.</a:t>
            </a:r>
            <a:endParaRPr lang="en-US" sz="1200" dirty="0"/>
          </a:p>
        </p:txBody>
      </p:sp>
      <p:sp>
        <p:nvSpPr>
          <p:cNvPr id="10" name="Card 322"/>
          <p:cNvSpPr/>
          <p:nvPr/>
        </p:nvSpPr>
        <p:spPr>
          <a:xfrm>
            <a:off x="4663440" y="1280160"/>
            <a:ext cx="4023360" cy="1554480"/>
          </a:xfrm>
          <a:prstGeom prst="roundRect">
            <a:avLst>
              <a:gd name="adj" fmla="val 8235"/>
            </a:avLst>
          </a:prstGeom>
          <a:solidFill>
            <a:schemeClr val="bg2"/>
          </a:solidFill>
          <a:ln/>
        </p:spPr>
      </p:sp>
      <p:sp>
        <p:nvSpPr>
          <p:cNvPr id="11" name="Circle 323"/>
          <p:cNvSpPr/>
          <p:nvPr/>
        </p:nvSpPr>
        <p:spPr>
          <a:xfrm>
            <a:off x="4869180" y="1485900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Icon 324" descr="MdPrivacyTi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9939" y="1616659"/>
            <a:ext cx="332842" cy="332842"/>
          </a:xfrm>
          <a:prstGeom prst="rect">
            <a:avLst/>
          </a:prstGeom>
        </p:spPr>
      </p:pic>
      <p:sp>
        <p:nvSpPr>
          <p:cNvPr id="13" name="Text 325"/>
          <p:cNvSpPr txBox="1"/>
          <p:nvPr/>
        </p:nvSpPr>
        <p:spPr>
          <a:xfrm>
            <a:off x="5623560" y="1463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Privacy</a:t>
            </a:r>
            <a:endParaRPr lang="en-US" sz="1500" dirty="0"/>
          </a:p>
        </p:txBody>
      </p:sp>
      <p:sp>
        <p:nvSpPr>
          <p:cNvPr id="14" name="Text 326"/>
          <p:cNvSpPr txBox="1"/>
          <p:nvPr/>
        </p:nvSpPr>
        <p:spPr>
          <a:xfrm>
            <a:off x="5623560" y="184708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Faces and number plates auto-blurred. We store the hazard location, not the person.</a:t>
            </a:r>
            <a:endParaRPr lang="en-US" sz="1200" dirty="0"/>
          </a:p>
        </p:txBody>
      </p:sp>
      <p:sp>
        <p:nvSpPr>
          <p:cNvPr id="15" name="Card 327"/>
          <p:cNvSpPr/>
          <p:nvPr/>
        </p:nvSpPr>
        <p:spPr>
          <a:xfrm>
            <a:off x="457200" y="2971800"/>
            <a:ext cx="4023360" cy="1554480"/>
          </a:xfrm>
          <a:prstGeom prst="roundRect">
            <a:avLst>
              <a:gd name="adj" fmla="val 8235"/>
            </a:avLst>
          </a:prstGeom>
          <a:solidFill>
            <a:schemeClr val="bg2"/>
          </a:solidFill>
          <a:ln/>
        </p:spPr>
      </p:sp>
      <p:sp>
        <p:nvSpPr>
          <p:cNvPr id="16" name="Circle 328"/>
          <p:cNvSpPr/>
          <p:nvPr/>
        </p:nvSpPr>
        <p:spPr>
          <a:xfrm>
            <a:off x="662940" y="317754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Icon 329" descr="MdAccountBalanc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" y="3308299"/>
            <a:ext cx="332842" cy="332842"/>
          </a:xfrm>
          <a:prstGeom prst="rect">
            <a:avLst/>
          </a:prstGeom>
        </p:spPr>
      </p:pic>
      <p:sp>
        <p:nvSpPr>
          <p:cNvPr id="18" name="Text 330"/>
          <p:cNvSpPr txBox="1"/>
          <p:nvPr/>
        </p:nvSpPr>
        <p:spPr>
          <a:xfrm>
            <a:off x="1417320" y="3154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Municipality adoption</a:t>
            </a:r>
            <a:endParaRPr lang="en-US" sz="1500" dirty="0"/>
          </a:p>
        </p:txBody>
      </p:sp>
      <p:sp>
        <p:nvSpPr>
          <p:cNvPr id="19" name="Text 331"/>
          <p:cNvSpPr txBox="1"/>
          <p:nvPr/>
        </p:nvSpPr>
        <p:spPr>
          <a:xfrm>
            <a:off x="1417320" y="353872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Dashboard works standalone. Public map adds accountability. CSV and API export.</a:t>
            </a:r>
            <a:endParaRPr lang="en-US" sz="1200" dirty="0"/>
          </a:p>
        </p:txBody>
      </p:sp>
      <p:sp>
        <p:nvSpPr>
          <p:cNvPr id="20" name="Card 332"/>
          <p:cNvSpPr/>
          <p:nvPr/>
        </p:nvSpPr>
        <p:spPr>
          <a:xfrm>
            <a:off x="4663440" y="2971800"/>
            <a:ext cx="4023360" cy="1554480"/>
          </a:xfrm>
          <a:prstGeom prst="roundRect">
            <a:avLst>
              <a:gd name="adj" fmla="val 8235"/>
            </a:avLst>
          </a:prstGeom>
          <a:solidFill>
            <a:schemeClr val="bg2"/>
          </a:solidFill>
          <a:ln/>
        </p:spPr>
      </p:sp>
      <p:sp>
        <p:nvSpPr>
          <p:cNvPr id="21" name="Circle 333"/>
          <p:cNvSpPr/>
          <p:nvPr/>
        </p:nvSpPr>
        <p:spPr>
          <a:xfrm>
            <a:off x="4869180" y="317754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2" name="Icon 334" descr="MdSmartTo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9939" y="3308299"/>
            <a:ext cx="332842" cy="332842"/>
          </a:xfrm>
          <a:prstGeom prst="rect">
            <a:avLst/>
          </a:prstGeom>
        </p:spPr>
      </p:pic>
      <p:sp>
        <p:nvSpPr>
          <p:cNvPr id="23" name="Text 335"/>
          <p:cNvSpPr txBox="1"/>
          <p:nvPr/>
        </p:nvSpPr>
        <p:spPr>
          <a:xfrm>
            <a:off x="5623560" y="3154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Weak signal, wrong AI</a:t>
            </a:r>
            <a:endParaRPr lang="en-US" sz="1500" dirty="0"/>
          </a:p>
        </p:txBody>
      </p:sp>
      <p:sp>
        <p:nvSpPr>
          <p:cNvPr id="24" name="Text 336"/>
          <p:cNvSpPr txBox="1"/>
          <p:nvPr/>
        </p:nvSpPr>
        <p:spPr>
          <a:xfrm>
            <a:off x="5623560" y="353872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Offline queue and compression. User confirms AI picks; low confidence goes to a human.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 337"/>
          <p:cNvSpPr/>
          <p:nvPr/>
        </p:nvSpPr>
        <p:spPr>
          <a:xfrm>
            <a:off x="6217920" y="-1280160"/>
            <a:ext cx="3291840" cy="3291840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</p:spPr>
      </p:sp>
      <p:sp>
        <p:nvSpPr>
          <p:cNvPr id="3" name="Circle 338"/>
          <p:cNvSpPr/>
          <p:nvPr/>
        </p:nvSpPr>
        <p:spPr>
          <a:xfrm>
            <a:off x="6858000" y="-640080"/>
            <a:ext cx="2011680" cy="2011680"/>
          </a:xfrm>
          <a:prstGeom prst="ellipse">
            <a:avLst/>
          </a:prstGeom>
          <a:solidFill>
            <a:schemeClr val="accent1">
              <a:alpha val="30000"/>
            </a:schemeClr>
          </a:solidFill>
          <a:ln/>
        </p:spPr>
      </p:sp>
      <p:sp>
        <p:nvSpPr>
          <p:cNvPr id="4" name="Circle 339"/>
          <p:cNvSpPr/>
          <p:nvPr/>
        </p:nvSpPr>
        <p:spPr>
          <a:xfrm>
            <a:off x="-1005840" y="3474720"/>
            <a:ext cx="2926080" cy="292608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5" name="Text 340"/>
          <p:cNvSpPr txBox="1"/>
          <p:nvPr/>
        </p:nvSpPr>
        <p:spPr>
          <a:xfrm>
            <a:off x="548640" y="10058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Report fast.</a:t>
            </a:r>
            <a:endParaRPr lang="en-US" sz="4400" dirty="0"/>
          </a:p>
        </p:txBody>
      </p:sp>
      <p:sp>
        <p:nvSpPr>
          <p:cNvPr id="6" name="Text 341"/>
          <p:cNvSpPr txBox="1"/>
          <p:nvPr/>
        </p:nvSpPr>
        <p:spPr>
          <a:xfrm>
            <a:off x="548640" y="17373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Fix first.</a:t>
            </a:r>
            <a:endParaRPr lang="en-US" sz="4400" dirty="0"/>
          </a:p>
        </p:txBody>
      </p:sp>
      <p:sp>
        <p:nvSpPr>
          <p:cNvPr id="7" name="Text 342"/>
          <p:cNvSpPr txBox="1"/>
          <p:nvPr/>
        </p:nvSpPr>
        <p:spPr>
          <a:xfrm>
            <a:off x="548640" y="2468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Prove it.</a:t>
            </a:r>
            <a:endParaRPr lang="en-US" sz="4400" dirty="0"/>
          </a:p>
        </p:txBody>
      </p:sp>
      <p:sp>
        <p:nvSpPr>
          <p:cNvPr id="8" name="Text 343"/>
          <p:cNvSpPr txBox="1"/>
          <p:nvPr/>
        </p:nvSpPr>
        <p:spPr>
          <a:xfrm>
            <a:off x="548640" y="338328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</a:rPr>
              <a:t>Citizens get a report flow so fast they actually use it. The municipality gets a ranked, evidence-backed list. A hazard is only fixed when the street proves it.</a:t>
            </a:r>
            <a:endParaRPr lang="en-US" sz="1400" dirty="0"/>
          </a:p>
        </p:txBody>
      </p:sp>
      <p:sp>
        <p:nvSpPr>
          <p:cNvPr id="9" name="Circle 344"/>
          <p:cNvSpPr/>
          <p:nvPr/>
        </p:nvSpPr>
        <p:spPr>
          <a:xfrm>
            <a:off x="594360" y="4206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 345" descr="MdPhotoCam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306824"/>
            <a:ext cx="256032" cy="256032"/>
          </a:xfrm>
          <a:prstGeom prst="rect">
            <a:avLst/>
          </a:prstGeom>
        </p:spPr>
      </p:pic>
      <p:sp>
        <p:nvSpPr>
          <p:cNvPr id="11" name="Circle 346"/>
          <p:cNvSpPr/>
          <p:nvPr/>
        </p:nvSpPr>
        <p:spPr>
          <a:xfrm>
            <a:off x="1188720" y="420624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Icon 347" descr="MdMa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304" y="4306824"/>
            <a:ext cx="256032" cy="256032"/>
          </a:xfrm>
          <a:prstGeom prst="rect">
            <a:avLst/>
          </a:prstGeom>
        </p:spPr>
      </p:pic>
      <p:sp>
        <p:nvSpPr>
          <p:cNvPr id="13" name="Circle 348"/>
          <p:cNvSpPr/>
          <p:nvPr/>
        </p:nvSpPr>
        <p:spPr>
          <a:xfrm>
            <a:off x="1783080" y="420624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4" name="Icon 349" descr="MdVerifie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3664" y="4306824"/>
            <a:ext cx="256032" cy="256032"/>
          </a:xfrm>
          <a:prstGeom prst="rect">
            <a:avLst/>
          </a:prstGeom>
        </p:spPr>
      </p:pic>
      <p:sp>
        <p:nvSpPr>
          <p:cNvPr id="15" name="Text 350"/>
          <p:cNvSpPr txBox="1"/>
          <p:nvPr/>
        </p:nvSpPr>
        <p:spPr>
          <a:xfrm>
            <a:off x="2743200" y="4206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Thank you  |  Problem submitted by Ziyad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feStreet">
  <a:themeElements>
    <a:clrScheme name="SafeStreet">
      <a:dk1>
        <a:srgbClr val="111827"/>
      </a:dk1>
      <a:lt1>
        <a:srgbClr val="FFFFFF"/>
      </a:lt1>
      <a:dk2>
        <a:srgbClr val="1F2937"/>
      </a:dk2>
      <a:lt2>
        <a:srgbClr val="FFF1E6"/>
      </a:lt2>
      <a:accent1>
        <a:srgbClr val="F97316"/>
      </a:accent1>
      <a:accent2>
        <a:srgbClr val="FBBF24"/>
      </a:accent2>
      <a:accent3>
        <a:srgbClr val="DC2626"/>
      </a:accent3>
      <a:accent4>
        <a:srgbClr val="16A34A"/>
      </a:accent4>
      <a:accent5>
        <a:srgbClr val="0EA5E9"/>
      </a:accent5>
      <a:accent6>
        <a:srgbClr val="9CA3AF"/>
      </a:accent6>
      <a:hlink>
        <a:srgbClr val="F97316"/>
      </a:hlink>
      <a:folHlink>
        <a:srgbClr val="9CA3AF"/>
      </a:folHlink>
    </a:clrScheme>
    <a:fontScheme name="SafeStree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SafeStreet - Civic &amp; Road Hazard Tracker</dc:title>
  <dc:subject>PptxGenJS Presentation</dc:subject>
  <dc:creator>Hackathon Team</dc:creator>
  <cp:lastModifiedBy>Hackathon Team</cp:lastModifiedBy>
  <cp:revision>1</cp:revision>
  <dcterms:created xsi:type="dcterms:W3CDTF">2026-10-09T19:48:50Z</dcterms:created>
  <dcterms:modified xsi:type="dcterms:W3CDTF">2026-10-09T19:48:50Z</dcterms:modified>
</cp:coreProperties>
</file>